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79"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17" autoAdjust="0"/>
    <p:restoredTop sz="94660"/>
  </p:normalViewPr>
  <p:slideViewPr>
    <p:cSldViewPr snapToGrid="0">
      <p:cViewPr varScale="1">
        <p:scale>
          <a:sx n="82" d="100"/>
          <a:sy n="82" d="100"/>
        </p:scale>
        <p:origin x="8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C5A2E-BAF1-FDA0-5BE9-24CF00E7D6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286C7C-FFCF-1FB0-0CDB-08788E1238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69EB21-517D-5299-197E-1F472D168598}"/>
              </a:ext>
            </a:extLst>
          </p:cNvPr>
          <p:cNvSpPr>
            <a:spLocks noGrp="1"/>
          </p:cNvSpPr>
          <p:nvPr>
            <p:ph type="dt" sz="half" idx="10"/>
          </p:nvPr>
        </p:nvSpPr>
        <p:spPr/>
        <p:txBody>
          <a:bodyPr/>
          <a:lstStyle/>
          <a:p>
            <a:fld id="{B4C5C2CC-9CE4-4B6D-BDEA-94AC93F67C1F}" type="datetimeFigureOut">
              <a:rPr lang="en-US" smtClean="0"/>
              <a:t>7/24/2026</a:t>
            </a:fld>
            <a:endParaRPr lang="en-US"/>
          </a:p>
        </p:txBody>
      </p:sp>
      <p:sp>
        <p:nvSpPr>
          <p:cNvPr id="5" name="Footer Placeholder 4">
            <a:extLst>
              <a:ext uri="{FF2B5EF4-FFF2-40B4-BE49-F238E27FC236}">
                <a16:creationId xmlns:a16="http://schemas.microsoft.com/office/drawing/2014/main" id="{0081E7D1-517A-09D8-573D-10E97AAA08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6C3E6D-FE14-501F-A416-9C448694870D}"/>
              </a:ext>
            </a:extLst>
          </p:cNvPr>
          <p:cNvSpPr>
            <a:spLocks noGrp="1"/>
          </p:cNvSpPr>
          <p:nvPr>
            <p:ph type="sldNum" sz="quarter" idx="12"/>
          </p:nvPr>
        </p:nvSpPr>
        <p:spPr/>
        <p:txBody>
          <a:bodyPr/>
          <a:lstStyle/>
          <a:p>
            <a:fld id="{1D51391A-4B02-4057-94B7-35D336079E4A}" type="slidenum">
              <a:rPr lang="en-US" smtClean="0"/>
              <a:t>‹#›</a:t>
            </a:fld>
            <a:endParaRPr lang="en-US"/>
          </a:p>
        </p:txBody>
      </p:sp>
    </p:spTree>
    <p:extLst>
      <p:ext uri="{BB962C8B-B14F-4D97-AF65-F5344CB8AC3E}">
        <p14:creationId xmlns:p14="http://schemas.microsoft.com/office/powerpoint/2010/main" val="3863065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6A9B0-C5E1-31B5-3BDE-D40ACFF2BA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B786B8-F7E5-81AB-12FE-47B63263FC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5AAFA7-5B1F-1503-D83E-8D6E204FA576}"/>
              </a:ext>
            </a:extLst>
          </p:cNvPr>
          <p:cNvSpPr>
            <a:spLocks noGrp="1"/>
          </p:cNvSpPr>
          <p:nvPr>
            <p:ph type="dt" sz="half" idx="10"/>
          </p:nvPr>
        </p:nvSpPr>
        <p:spPr/>
        <p:txBody>
          <a:bodyPr/>
          <a:lstStyle/>
          <a:p>
            <a:fld id="{B4C5C2CC-9CE4-4B6D-BDEA-94AC93F67C1F}" type="datetimeFigureOut">
              <a:rPr lang="en-US" smtClean="0"/>
              <a:t>7/24/2026</a:t>
            </a:fld>
            <a:endParaRPr lang="en-US"/>
          </a:p>
        </p:txBody>
      </p:sp>
      <p:sp>
        <p:nvSpPr>
          <p:cNvPr id="5" name="Footer Placeholder 4">
            <a:extLst>
              <a:ext uri="{FF2B5EF4-FFF2-40B4-BE49-F238E27FC236}">
                <a16:creationId xmlns:a16="http://schemas.microsoft.com/office/drawing/2014/main" id="{EF09ED51-4871-5CB7-15D9-9E26A4356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E17295-2567-78A2-5DFE-C3176E005253}"/>
              </a:ext>
            </a:extLst>
          </p:cNvPr>
          <p:cNvSpPr>
            <a:spLocks noGrp="1"/>
          </p:cNvSpPr>
          <p:nvPr>
            <p:ph type="sldNum" sz="quarter" idx="12"/>
          </p:nvPr>
        </p:nvSpPr>
        <p:spPr/>
        <p:txBody>
          <a:bodyPr/>
          <a:lstStyle/>
          <a:p>
            <a:fld id="{1D51391A-4B02-4057-94B7-35D336079E4A}" type="slidenum">
              <a:rPr lang="en-US" smtClean="0"/>
              <a:t>‹#›</a:t>
            </a:fld>
            <a:endParaRPr lang="en-US"/>
          </a:p>
        </p:txBody>
      </p:sp>
    </p:spTree>
    <p:extLst>
      <p:ext uri="{BB962C8B-B14F-4D97-AF65-F5344CB8AC3E}">
        <p14:creationId xmlns:p14="http://schemas.microsoft.com/office/powerpoint/2010/main" val="242648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CB7D7-0876-CA3B-2211-31548EC081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D80B87-E5C9-3767-3B2D-27F80F27F4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E95D22-C072-BCC1-51AD-D4F837EFBEC2}"/>
              </a:ext>
            </a:extLst>
          </p:cNvPr>
          <p:cNvSpPr>
            <a:spLocks noGrp="1"/>
          </p:cNvSpPr>
          <p:nvPr>
            <p:ph type="dt" sz="half" idx="10"/>
          </p:nvPr>
        </p:nvSpPr>
        <p:spPr/>
        <p:txBody>
          <a:bodyPr/>
          <a:lstStyle/>
          <a:p>
            <a:fld id="{B4C5C2CC-9CE4-4B6D-BDEA-94AC93F67C1F}" type="datetimeFigureOut">
              <a:rPr lang="en-US" smtClean="0"/>
              <a:t>7/24/2026</a:t>
            </a:fld>
            <a:endParaRPr lang="en-US"/>
          </a:p>
        </p:txBody>
      </p:sp>
      <p:sp>
        <p:nvSpPr>
          <p:cNvPr id="5" name="Footer Placeholder 4">
            <a:extLst>
              <a:ext uri="{FF2B5EF4-FFF2-40B4-BE49-F238E27FC236}">
                <a16:creationId xmlns:a16="http://schemas.microsoft.com/office/drawing/2014/main" id="{F3D38D3B-06C4-7875-2309-2468DF0712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633C1C-B548-1814-3318-6CE07E961D53}"/>
              </a:ext>
            </a:extLst>
          </p:cNvPr>
          <p:cNvSpPr>
            <a:spLocks noGrp="1"/>
          </p:cNvSpPr>
          <p:nvPr>
            <p:ph type="sldNum" sz="quarter" idx="12"/>
          </p:nvPr>
        </p:nvSpPr>
        <p:spPr/>
        <p:txBody>
          <a:bodyPr/>
          <a:lstStyle/>
          <a:p>
            <a:fld id="{1D51391A-4B02-4057-94B7-35D336079E4A}" type="slidenum">
              <a:rPr lang="en-US" smtClean="0"/>
              <a:t>‹#›</a:t>
            </a:fld>
            <a:endParaRPr lang="en-US"/>
          </a:p>
        </p:txBody>
      </p:sp>
    </p:spTree>
    <p:extLst>
      <p:ext uri="{BB962C8B-B14F-4D97-AF65-F5344CB8AC3E}">
        <p14:creationId xmlns:p14="http://schemas.microsoft.com/office/powerpoint/2010/main" val="666285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18CA1-2EAD-11EC-BFC3-CA2939BF05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C61E1F-D256-B88F-9A5C-0A03562B61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FCC291-B250-EA20-B771-FD36AA4CB8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E26383-AD9B-4855-DF02-C8CBDD6F7E01}"/>
              </a:ext>
            </a:extLst>
          </p:cNvPr>
          <p:cNvSpPr>
            <a:spLocks noGrp="1"/>
          </p:cNvSpPr>
          <p:nvPr>
            <p:ph type="dt" sz="half" idx="10"/>
          </p:nvPr>
        </p:nvSpPr>
        <p:spPr/>
        <p:txBody>
          <a:bodyPr/>
          <a:lstStyle/>
          <a:p>
            <a:fld id="{B4C5C2CC-9CE4-4B6D-BDEA-94AC93F67C1F}" type="datetimeFigureOut">
              <a:rPr lang="en-US" smtClean="0"/>
              <a:t>7/24/2026</a:t>
            </a:fld>
            <a:endParaRPr lang="en-US"/>
          </a:p>
        </p:txBody>
      </p:sp>
      <p:sp>
        <p:nvSpPr>
          <p:cNvPr id="6" name="Footer Placeholder 5">
            <a:extLst>
              <a:ext uri="{FF2B5EF4-FFF2-40B4-BE49-F238E27FC236}">
                <a16:creationId xmlns:a16="http://schemas.microsoft.com/office/drawing/2014/main" id="{6BBFEABE-F10A-0C4D-FA4D-F4CB67A1A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468041-0441-2C12-2A2D-B802F453EACF}"/>
              </a:ext>
            </a:extLst>
          </p:cNvPr>
          <p:cNvSpPr>
            <a:spLocks noGrp="1"/>
          </p:cNvSpPr>
          <p:nvPr>
            <p:ph type="sldNum" sz="quarter" idx="12"/>
          </p:nvPr>
        </p:nvSpPr>
        <p:spPr/>
        <p:txBody>
          <a:bodyPr/>
          <a:lstStyle/>
          <a:p>
            <a:fld id="{1D51391A-4B02-4057-94B7-35D336079E4A}" type="slidenum">
              <a:rPr lang="en-US" smtClean="0"/>
              <a:t>‹#›</a:t>
            </a:fld>
            <a:endParaRPr lang="en-US"/>
          </a:p>
        </p:txBody>
      </p:sp>
    </p:spTree>
    <p:extLst>
      <p:ext uri="{BB962C8B-B14F-4D97-AF65-F5344CB8AC3E}">
        <p14:creationId xmlns:p14="http://schemas.microsoft.com/office/powerpoint/2010/main" val="4277125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9566F-6DB6-4960-A0BC-5A3F2CEA51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521787-7886-1321-57B8-59F3E389FA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6A48A8-6956-F688-E159-B8E430D76B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9E2773-96B8-96EB-00CD-3E73E6AB1F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8BFD2D-9CF5-20DC-0D21-C9D637F840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060B06-48EF-F11F-D46E-D19ECD86C694}"/>
              </a:ext>
            </a:extLst>
          </p:cNvPr>
          <p:cNvSpPr>
            <a:spLocks noGrp="1"/>
          </p:cNvSpPr>
          <p:nvPr>
            <p:ph type="dt" sz="half" idx="10"/>
          </p:nvPr>
        </p:nvSpPr>
        <p:spPr/>
        <p:txBody>
          <a:bodyPr/>
          <a:lstStyle/>
          <a:p>
            <a:fld id="{B4C5C2CC-9CE4-4B6D-BDEA-94AC93F67C1F}" type="datetimeFigureOut">
              <a:rPr lang="en-US" smtClean="0"/>
              <a:t>7/24/2026</a:t>
            </a:fld>
            <a:endParaRPr lang="en-US"/>
          </a:p>
        </p:txBody>
      </p:sp>
      <p:sp>
        <p:nvSpPr>
          <p:cNvPr id="8" name="Footer Placeholder 7">
            <a:extLst>
              <a:ext uri="{FF2B5EF4-FFF2-40B4-BE49-F238E27FC236}">
                <a16:creationId xmlns:a16="http://schemas.microsoft.com/office/drawing/2014/main" id="{E1A7358C-0BD7-0A7D-03BC-A210EC9690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4FE8F2-4AE6-0478-6A17-C37402856D31}"/>
              </a:ext>
            </a:extLst>
          </p:cNvPr>
          <p:cNvSpPr>
            <a:spLocks noGrp="1"/>
          </p:cNvSpPr>
          <p:nvPr>
            <p:ph type="sldNum" sz="quarter" idx="12"/>
          </p:nvPr>
        </p:nvSpPr>
        <p:spPr/>
        <p:txBody>
          <a:bodyPr/>
          <a:lstStyle/>
          <a:p>
            <a:fld id="{1D51391A-4B02-4057-94B7-35D336079E4A}" type="slidenum">
              <a:rPr lang="en-US" smtClean="0"/>
              <a:t>‹#›</a:t>
            </a:fld>
            <a:endParaRPr lang="en-US"/>
          </a:p>
        </p:txBody>
      </p:sp>
    </p:spTree>
    <p:extLst>
      <p:ext uri="{BB962C8B-B14F-4D97-AF65-F5344CB8AC3E}">
        <p14:creationId xmlns:p14="http://schemas.microsoft.com/office/powerpoint/2010/main" val="1275226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E0164-664F-1344-B704-A65D97F6AA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0CB225-3759-9B64-6966-F43EACE686AC}"/>
              </a:ext>
            </a:extLst>
          </p:cNvPr>
          <p:cNvSpPr>
            <a:spLocks noGrp="1"/>
          </p:cNvSpPr>
          <p:nvPr>
            <p:ph type="dt" sz="half" idx="10"/>
          </p:nvPr>
        </p:nvSpPr>
        <p:spPr/>
        <p:txBody>
          <a:bodyPr/>
          <a:lstStyle/>
          <a:p>
            <a:fld id="{B4C5C2CC-9CE4-4B6D-BDEA-94AC93F67C1F}" type="datetimeFigureOut">
              <a:rPr lang="en-US" smtClean="0"/>
              <a:t>7/24/2026</a:t>
            </a:fld>
            <a:endParaRPr lang="en-US"/>
          </a:p>
        </p:txBody>
      </p:sp>
      <p:sp>
        <p:nvSpPr>
          <p:cNvPr id="4" name="Footer Placeholder 3">
            <a:extLst>
              <a:ext uri="{FF2B5EF4-FFF2-40B4-BE49-F238E27FC236}">
                <a16:creationId xmlns:a16="http://schemas.microsoft.com/office/drawing/2014/main" id="{0CDAA25D-D9A1-84A5-5E1B-3B79A88099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95C57A2-0395-1A67-C704-27F11CA29663}"/>
              </a:ext>
            </a:extLst>
          </p:cNvPr>
          <p:cNvSpPr>
            <a:spLocks noGrp="1"/>
          </p:cNvSpPr>
          <p:nvPr>
            <p:ph type="sldNum" sz="quarter" idx="12"/>
          </p:nvPr>
        </p:nvSpPr>
        <p:spPr/>
        <p:txBody>
          <a:bodyPr/>
          <a:lstStyle/>
          <a:p>
            <a:fld id="{1D51391A-4B02-4057-94B7-35D336079E4A}" type="slidenum">
              <a:rPr lang="en-US" smtClean="0"/>
              <a:t>‹#›</a:t>
            </a:fld>
            <a:endParaRPr lang="en-US"/>
          </a:p>
        </p:txBody>
      </p:sp>
    </p:spTree>
    <p:extLst>
      <p:ext uri="{BB962C8B-B14F-4D97-AF65-F5344CB8AC3E}">
        <p14:creationId xmlns:p14="http://schemas.microsoft.com/office/powerpoint/2010/main" val="271208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9A55E0-B8C3-2294-CA67-BED79A7758DB}"/>
              </a:ext>
            </a:extLst>
          </p:cNvPr>
          <p:cNvSpPr>
            <a:spLocks noGrp="1"/>
          </p:cNvSpPr>
          <p:nvPr>
            <p:ph type="dt" sz="half" idx="10"/>
          </p:nvPr>
        </p:nvSpPr>
        <p:spPr/>
        <p:txBody>
          <a:bodyPr/>
          <a:lstStyle/>
          <a:p>
            <a:fld id="{B4C5C2CC-9CE4-4B6D-BDEA-94AC93F67C1F}" type="datetimeFigureOut">
              <a:rPr lang="en-US" smtClean="0"/>
              <a:t>7/24/2026</a:t>
            </a:fld>
            <a:endParaRPr lang="en-US"/>
          </a:p>
        </p:txBody>
      </p:sp>
      <p:sp>
        <p:nvSpPr>
          <p:cNvPr id="3" name="Footer Placeholder 2">
            <a:extLst>
              <a:ext uri="{FF2B5EF4-FFF2-40B4-BE49-F238E27FC236}">
                <a16:creationId xmlns:a16="http://schemas.microsoft.com/office/drawing/2014/main" id="{3FF568F8-412E-1DF0-AAF5-B5E790EE64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75AD07-B754-6A80-ACE8-1DAD57FD3CBF}"/>
              </a:ext>
            </a:extLst>
          </p:cNvPr>
          <p:cNvSpPr>
            <a:spLocks noGrp="1"/>
          </p:cNvSpPr>
          <p:nvPr>
            <p:ph type="sldNum" sz="quarter" idx="12"/>
          </p:nvPr>
        </p:nvSpPr>
        <p:spPr/>
        <p:txBody>
          <a:bodyPr/>
          <a:lstStyle/>
          <a:p>
            <a:fld id="{1D51391A-4B02-4057-94B7-35D336079E4A}" type="slidenum">
              <a:rPr lang="en-US" smtClean="0"/>
              <a:t>‹#›</a:t>
            </a:fld>
            <a:endParaRPr lang="en-US"/>
          </a:p>
        </p:txBody>
      </p:sp>
    </p:spTree>
    <p:extLst>
      <p:ext uri="{BB962C8B-B14F-4D97-AF65-F5344CB8AC3E}">
        <p14:creationId xmlns:p14="http://schemas.microsoft.com/office/powerpoint/2010/main" val="576897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E9FCF-74D4-1D91-ABA8-E8BD8C47B4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2A2B37-522B-9A9A-A40B-075BA424C5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B495B5-AA67-7C0F-298A-25F3C94C8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57F81E-F30E-8844-E931-2C3130C2D46D}"/>
              </a:ext>
            </a:extLst>
          </p:cNvPr>
          <p:cNvSpPr>
            <a:spLocks noGrp="1"/>
          </p:cNvSpPr>
          <p:nvPr>
            <p:ph type="dt" sz="half" idx="10"/>
          </p:nvPr>
        </p:nvSpPr>
        <p:spPr/>
        <p:txBody>
          <a:bodyPr/>
          <a:lstStyle/>
          <a:p>
            <a:fld id="{B4C5C2CC-9CE4-4B6D-BDEA-94AC93F67C1F}" type="datetimeFigureOut">
              <a:rPr lang="en-US" smtClean="0"/>
              <a:t>7/24/2026</a:t>
            </a:fld>
            <a:endParaRPr lang="en-US"/>
          </a:p>
        </p:txBody>
      </p:sp>
      <p:sp>
        <p:nvSpPr>
          <p:cNvPr id="6" name="Footer Placeholder 5">
            <a:extLst>
              <a:ext uri="{FF2B5EF4-FFF2-40B4-BE49-F238E27FC236}">
                <a16:creationId xmlns:a16="http://schemas.microsoft.com/office/drawing/2014/main" id="{12B20111-1459-B259-87FA-D0F3153F89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D29845-E015-CD97-311E-13CF16BB3148}"/>
              </a:ext>
            </a:extLst>
          </p:cNvPr>
          <p:cNvSpPr>
            <a:spLocks noGrp="1"/>
          </p:cNvSpPr>
          <p:nvPr>
            <p:ph type="sldNum" sz="quarter" idx="12"/>
          </p:nvPr>
        </p:nvSpPr>
        <p:spPr/>
        <p:txBody>
          <a:bodyPr/>
          <a:lstStyle/>
          <a:p>
            <a:fld id="{1D51391A-4B02-4057-94B7-35D336079E4A}" type="slidenum">
              <a:rPr lang="en-US" smtClean="0"/>
              <a:t>‹#›</a:t>
            </a:fld>
            <a:endParaRPr lang="en-US"/>
          </a:p>
        </p:txBody>
      </p:sp>
    </p:spTree>
    <p:extLst>
      <p:ext uri="{BB962C8B-B14F-4D97-AF65-F5344CB8AC3E}">
        <p14:creationId xmlns:p14="http://schemas.microsoft.com/office/powerpoint/2010/main" val="61294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F36F9-77A2-52D7-8CF9-A8F70893A3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1BA4DF-B8EF-EC58-95AC-A94572B25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B01D46-B4BF-E1DD-3FF9-02BE5AAD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1839CD-F9E7-AE63-78E4-C3D19C619CEE}"/>
              </a:ext>
            </a:extLst>
          </p:cNvPr>
          <p:cNvSpPr>
            <a:spLocks noGrp="1"/>
          </p:cNvSpPr>
          <p:nvPr>
            <p:ph type="dt" sz="half" idx="10"/>
          </p:nvPr>
        </p:nvSpPr>
        <p:spPr/>
        <p:txBody>
          <a:bodyPr/>
          <a:lstStyle/>
          <a:p>
            <a:fld id="{B4C5C2CC-9CE4-4B6D-BDEA-94AC93F67C1F}" type="datetimeFigureOut">
              <a:rPr lang="en-US" smtClean="0"/>
              <a:t>7/24/2026</a:t>
            </a:fld>
            <a:endParaRPr lang="en-US"/>
          </a:p>
        </p:txBody>
      </p:sp>
      <p:sp>
        <p:nvSpPr>
          <p:cNvPr id="6" name="Footer Placeholder 5">
            <a:extLst>
              <a:ext uri="{FF2B5EF4-FFF2-40B4-BE49-F238E27FC236}">
                <a16:creationId xmlns:a16="http://schemas.microsoft.com/office/drawing/2014/main" id="{5CBB622E-7472-9498-42E8-7D46CD9464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003982A-1250-3EE3-AEAD-166BE83D0106}"/>
              </a:ext>
            </a:extLst>
          </p:cNvPr>
          <p:cNvSpPr>
            <a:spLocks noGrp="1"/>
          </p:cNvSpPr>
          <p:nvPr>
            <p:ph type="sldNum" sz="quarter" idx="12"/>
          </p:nvPr>
        </p:nvSpPr>
        <p:spPr/>
        <p:txBody>
          <a:bodyPr/>
          <a:lstStyle/>
          <a:p>
            <a:fld id="{1D51391A-4B02-4057-94B7-35D336079E4A}" type="slidenum">
              <a:rPr lang="en-US" smtClean="0"/>
              <a:t>‹#›</a:t>
            </a:fld>
            <a:endParaRPr lang="en-US"/>
          </a:p>
        </p:txBody>
      </p:sp>
    </p:spTree>
    <p:extLst>
      <p:ext uri="{BB962C8B-B14F-4D97-AF65-F5344CB8AC3E}">
        <p14:creationId xmlns:p14="http://schemas.microsoft.com/office/powerpoint/2010/main" val="3201777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3366-F2E2-C857-2CAB-6C148D06C4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14A387-8A0D-E3C2-9654-F927E78D68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BE5B08-4C15-8EA6-CEAE-CC8BA2368418}"/>
              </a:ext>
            </a:extLst>
          </p:cNvPr>
          <p:cNvSpPr>
            <a:spLocks noGrp="1"/>
          </p:cNvSpPr>
          <p:nvPr>
            <p:ph type="dt" sz="half" idx="10"/>
          </p:nvPr>
        </p:nvSpPr>
        <p:spPr/>
        <p:txBody>
          <a:bodyPr/>
          <a:lstStyle/>
          <a:p>
            <a:fld id="{B4C5C2CC-9CE4-4B6D-BDEA-94AC93F67C1F}" type="datetimeFigureOut">
              <a:rPr lang="en-US" smtClean="0"/>
              <a:t>7/24/2026</a:t>
            </a:fld>
            <a:endParaRPr lang="en-US"/>
          </a:p>
        </p:txBody>
      </p:sp>
      <p:sp>
        <p:nvSpPr>
          <p:cNvPr id="5" name="Footer Placeholder 4">
            <a:extLst>
              <a:ext uri="{FF2B5EF4-FFF2-40B4-BE49-F238E27FC236}">
                <a16:creationId xmlns:a16="http://schemas.microsoft.com/office/drawing/2014/main" id="{C0721A92-6DEC-7AE1-BBF1-ACCC0C1AF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12124-CA11-4F1E-7811-39D225FD0C55}"/>
              </a:ext>
            </a:extLst>
          </p:cNvPr>
          <p:cNvSpPr>
            <a:spLocks noGrp="1"/>
          </p:cNvSpPr>
          <p:nvPr>
            <p:ph type="sldNum" sz="quarter" idx="12"/>
          </p:nvPr>
        </p:nvSpPr>
        <p:spPr/>
        <p:txBody>
          <a:bodyPr/>
          <a:lstStyle/>
          <a:p>
            <a:fld id="{1D51391A-4B02-4057-94B7-35D336079E4A}" type="slidenum">
              <a:rPr lang="en-US" smtClean="0"/>
              <a:t>‹#›</a:t>
            </a:fld>
            <a:endParaRPr lang="en-US"/>
          </a:p>
        </p:txBody>
      </p:sp>
    </p:spTree>
    <p:extLst>
      <p:ext uri="{BB962C8B-B14F-4D97-AF65-F5344CB8AC3E}">
        <p14:creationId xmlns:p14="http://schemas.microsoft.com/office/powerpoint/2010/main" val="870636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33D9EA-5EB7-C845-4ED5-56CA708B34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C71F4D-3309-E491-E69A-AABE702511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9369E2-60CC-A13D-CA37-3F72A394114F}"/>
              </a:ext>
            </a:extLst>
          </p:cNvPr>
          <p:cNvSpPr>
            <a:spLocks noGrp="1"/>
          </p:cNvSpPr>
          <p:nvPr>
            <p:ph type="dt" sz="half" idx="10"/>
          </p:nvPr>
        </p:nvSpPr>
        <p:spPr/>
        <p:txBody>
          <a:bodyPr/>
          <a:lstStyle/>
          <a:p>
            <a:fld id="{B4C5C2CC-9CE4-4B6D-BDEA-94AC93F67C1F}" type="datetimeFigureOut">
              <a:rPr lang="en-US" smtClean="0"/>
              <a:t>7/24/2026</a:t>
            </a:fld>
            <a:endParaRPr lang="en-US"/>
          </a:p>
        </p:txBody>
      </p:sp>
      <p:sp>
        <p:nvSpPr>
          <p:cNvPr id="5" name="Footer Placeholder 4">
            <a:extLst>
              <a:ext uri="{FF2B5EF4-FFF2-40B4-BE49-F238E27FC236}">
                <a16:creationId xmlns:a16="http://schemas.microsoft.com/office/drawing/2014/main" id="{79534172-6A66-3033-F3C2-76BDF3EAD5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0A515E-8666-58BE-98B2-7C1694CBEB80}"/>
              </a:ext>
            </a:extLst>
          </p:cNvPr>
          <p:cNvSpPr>
            <a:spLocks noGrp="1"/>
          </p:cNvSpPr>
          <p:nvPr>
            <p:ph type="sldNum" sz="quarter" idx="12"/>
          </p:nvPr>
        </p:nvSpPr>
        <p:spPr/>
        <p:txBody>
          <a:bodyPr/>
          <a:lstStyle/>
          <a:p>
            <a:fld id="{1D51391A-4B02-4057-94B7-35D336079E4A}" type="slidenum">
              <a:rPr lang="en-US" smtClean="0"/>
              <a:t>‹#›</a:t>
            </a:fld>
            <a:endParaRPr lang="en-US"/>
          </a:p>
        </p:txBody>
      </p:sp>
    </p:spTree>
    <p:extLst>
      <p:ext uri="{BB962C8B-B14F-4D97-AF65-F5344CB8AC3E}">
        <p14:creationId xmlns:p14="http://schemas.microsoft.com/office/powerpoint/2010/main" val="3731831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920925-4773-2127-8598-F980E743D5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DA03BC-6EA3-AB05-C4E0-CA0828172B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04EE24-0C34-E1D1-6F8B-0A57522DFB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C5C2CC-9CE4-4B6D-BDEA-94AC93F67C1F}" type="datetimeFigureOut">
              <a:rPr lang="en-US" smtClean="0"/>
              <a:t>7/24/2026</a:t>
            </a:fld>
            <a:endParaRPr lang="en-US"/>
          </a:p>
        </p:txBody>
      </p:sp>
      <p:sp>
        <p:nvSpPr>
          <p:cNvPr id="5" name="Footer Placeholder 4">
            <a:extLst>
              <a:ext uri="{FF2B5EF4-FFF2-40B4-BE49-F238E27FC236}">
                <a16:creationId xmlns:a16="http://schemas.microsoft.com/office/drawing/2014/main" id="{7B6C63CD-4A3E-9EEC-F10C-3D56FA8393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95E6D0-BE4D-5F66-0AEB-E39D022CAF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51391A-4B02-4057-94B7-35D336079E4A}" type="slidenum">
              <a:rPr lang="en-US" smtClean="0"/>
              <a:t>‹#›</a:t>
            </a:fld>
            <a:endParaRPr lang="en-US"/>
          </a:p>
        </p:txBody>
      </p:sp>
    </p:spTree>
    <p:extLst>
      <p:ext uri="{BB962C8B-B14F-4D97-AF65-F5344CB8AC3E}">
        <p14:creationId xmlns:p14="http://schemas.microsoft.com/office/powerpoint/2010/main" val="344494051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28610-70D5-E5FC-B673-BADC6185A425}"/>
              </a:ext>
            </a:extLst>
          </p:cNvPr>
          <p:cNvSpPr>
            <a:spLocks noGrp="1"/>
          </p:cNvSpPr>
          <p:nvPr>
            <p:ph type="ctrTitle"/>
          </p:nvPr>
        </p:nvSpPr>
        <p:spPr>
          <a:xfrm>
            <a:off x="1524000" y="1026367"/>
            <a:ext cx="9144000" cy="925383"/>
          </a:xfr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lstStyle/>
          <a:p>
            <a:r>
              <a:rPr lang="en-US" b="1" dirty="0">
                <a:latin typeface="Georgia" panose="02040502050405020303" pitchFamily="18" charset="0"/>
              </a:rPr>
              <a:t>MARKET ANAYSIS</a:t>
            </a:r>
          </a:p>
        </p:txBody>
      </p:sp>
      <p:sp>
        <p:nvSpPr>
          <p:cNvPr id="3" name="Subtitle 2">
            <a:extLst>
              <a:ext uri="{FF2B5EF4-FFF2-40B4-BE49-F238E27FC236}">
                <a16:creationId xmlns:a16="http://schemas.microsoft.com/office/drawing/2014/main" id="{6FA5C33E-6B41-AD7D-B2FA-574AF045CC30}"/>
              </a:ext>
            </a:extLst>
          </p:cNvPr>
          <p:cNvSpPr>
            <a:spLocks noGrp="1"/>
          </p:cNvSpPr>
          <p:nvPr>
            <p:ph type="subTitle" idx="1"/>
          </p:nvPr>
        </p:nvSpPr>
        <p:spPr>
          <a:xfrm>
            <a:off x="1524000" y="2668556"/>
            <a:ext cx="9144000" cy="2822510"/>
          </a:xfr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lstStyle/>
          <a:p>
            <a:pPr marL="0" marR="0">
              <a:lnSpc>
                <a:spcPct val="115000"/>
              </a:lnSpc>
              <a:spcBef>
                <a:spcPts val="0"/>
              </a:spcBef>
              <a:spcAft>
                <a:spcPts val="800"/>
              </a:spcAft>
            </a:pPr>
            <a:r>
              <a:rPr lang="en-US" sz="2800" b="1" kern="100" dirty="0">
                <a:effectLst/>
                <a:latin typeface="Arial Narrow" panose="020B0606020202030204" pitchFamily="34" charset="0"/>
                <a:ea typeface="DengXian" panose="02010600030101010101" pitchFamily="2" charset="-122"/>
                <a:cs typeface="Cordia New" panose="020B0304020202020204" pitchFamily="34" charset="-34"/>
              </a:rPr>
              <a:t>CDACL-06-Market Analysis</a:t>
            </a:r>
            <a:endParaRPr lang="en-US" sz="2800" kern="100" dirty="0">
              <a:effectLst/>
              <a:latin typeface="Arial Narrow" panose="020B0606020202030204" pitchFamily="34" charset="0"/>
              <a:ea typeface="DengXian" panose="02010600030101010101" pitchFamily="2" charset="-122"/>
              <a:cs typeface="Cordia New" panose="020B0304020202020204" pitchFamily="34" charset="-34"/>
            </a:endParaRPr>
          </a:p>
          <a:p>
            <a:pPr marL="0" marR="0">
              <a:lnSpc>
                <a:spcPct val="115000"/>
              </a:lnSpc>
              <a:spcBef>
                <a:spcPts val="0"/>
              </a:spcBef>
              <a:spcAft>
                <a:spcPts val="800"/>
              </a:spcAft>
            </a:pPr>
            <a:r>
              <a:rPr lang="en-US" sz="2800" b="1" kern="100" dirty="0">
                <a:effectLst/>
                <a:latin typeface="Arial Narrow" panose="020B0606020202030204" pitchFamily="34" charset="0"/>
                <a:ea typeface="DengXian" panose="02010600030101010101" pitchFamily="2" charset="-122"/>
                <a:cs typeface="Cordia New" panose="020B0304020202020204" pitchFamily="34" charset="-34"/>
              </a:rPr>
              <a:t>Submitted By : Deepak R </a:t>
            </a:r>
            <a:r>
              <a:rPr lang="en-US" sz="2800" b="1" kern="100" dirty="0" err="1">
                <a:effectLst/>
                <a:latin typeface="Arial Narrow" panose="020B0606020202030204" pitchFamily="34" charset="0"/>
                <a:ea typeface="DengXian" panose="02010600030101010101" pitchFamily="2" charset="-122"/>
                <a:cs typeface="Cordia New" panose="020B0304020202020204" pitchFamily="34" charset="-34"/>
              </a:rPr>
              <a:t>Rayabagkar</a:t>
            </a:r>
            <a:endParaRPr lang="en-US" sz="2800" kern="100" dirty="0">
              <a:effectLst/>
              <a:latin typeface="Arial Narrow" panose="020B0606020202030204" pitchFamily="34" charset="0"/>
              <a:ea typeface="DengXian" panose="02010600030101010101" pitchFamily="2" charset="-122"/>
              <a:cs typeface="Cordia New" panose="020B0304020202020204" pitchFamily="34" charset="-34"/>
            </a:endParaRPr>
          </a:p>
          <a:p>
            <a:pPr marL="0" marR="0">
              <a:lnSpc>
                <a:spcPct val="115000"/>
              </a:lnSpc>
              <a:spcBef>
                <a:spcPts val="0"/>
              </a:spcBef>
              <a:spcAft>
                <a:spcPts val="800"/>
              </a:spcAft>
            </a:pPr>
            <a:r>
              <a:rPr lang="en-US" sz="2800" b="1" kern="100" dirty="0">
                <a:effectLst/>
                <a:latin typeface="Arial Narrow" panose="020B0606020202030204" pitchFamily="34" charset="0"/>
                <a:ea typeface="DengXian" panose="02010600030101010101" pitchFamily="2" charset="-122"/>
                <a:cs typeface="Cordia New" panose="020B0304020202020204" pitchFamily="34" charset="-34"/>
              </a:rPr>
              <a:t>Course: CDA Internship</a:t>
            </a:r>
            <a:endParaRPr lang="en-US" sz="2800" kern="100" dirty="0">
              <a:effectLst/>
              <a:latin typeface="Arial Narrow" panose="020B0606020202030204" pitchFamily="34" charset="0"/>
              <a:ea typeface="DengXian" panose="02010600030101010101" pitchFamily="2" charset="-122"/>
              <a:cs typeface="Cordia New" panose="020B0304020202020204" pitchFamily="34" charset="-34"/>
            </a:endParaRPr>
          </a:p>
          <a:p>
            <a:pPr marL="0" marR="0">
              <a:lnSpc>
                <a:spcPct val="115000"/>
              </a:lnSpc>
              <a:spcBef>
                <a:spcPts val="0"/>
              </a:spcBef>
              <a:spcAft>
                <a:spcPts val="800"/>
              </a:spcAft>
            </a:pPr>
            <a:r>
              <a:rPr lang="en-US" sz="2800" b="1" kern="100" dirty="0">
                <a:effectLst/>
                <a:latin typeface="Arial Narrow" panose="020B0606020202030204" pitchFamily="34" charset="0"/>
                <a:ea typeface="DengXian" panose="02010600030101010101" pitchFamily="2" charset="-122"/>
                <a:cs typeface="Cordia New" panose="020B0304020202020204" pitchFamily="34" charset="-34"/>
              </a:rPr>
              <a:t>Tools Used: SQL, Power BI, Power Query, DAX</a:t>
            </a:r>
            <a:endParaRPr lang="en-US" sz="2800" kern="100" dirty="0">
              <a:effectLst/>
              <a:latin typeface="Arial Narrow" panose="020B0606020202030204" pitchFamily="34" charset="0"/>
              <a:ea typeface="DengXian" panose="02010600030101010101" pitchFamily="2" charset="-122"/>
              <a:cs typeface="Cordia New" panose="020B0304020202020204" pitchFamily="34" charset="-34"/>
            </a:endParaRPr>
          </a:p>
          <a:p>
            <a:endParaRPr lang="en-US" dirty="0"/>
          </a:p>
        </p:txBody>
      </p:sp>
    </p:spTree>
    <p:extLst>
      <p:ext uri="{BB962C8B-B14F-4D97-AF65-F5344CB8AC3E}">
        <p14:creationId xmlns:p14="http://schemas.microsoft.com/office/powerpoint/2010/main" val="828927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E4638-2353-A99C-6D3D-C3C76FD54450}"/>
              </a:ext>
            </a:extLst>
          </p:cNvPr>
          <p:cNvSpPr>
            <a:spLocks noGrp="1"/>
          </p:cNvSpPr>
          <p:nvPr>
            <p:ph type="title"/>
          </p:nvPr>
        </p:nvSpPr>
        <p:spPr>
          <a:xfrm>
            <a:off x="0" y="0"/>
            <a:ext cx="12192000" cy="787400"/>
          </a:xfr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a:normAutofit/>
          </a:bodyPr>
          <a:lstStyle/>
          <a:p>
            <a:pPr algn="ctr"/>
            <a:r>
              <a:rPr lang="en-US" sz="2800" b="1" dirty="0">
                <a:latin typeface="Bahnschrift" panose="020B0502040204020203" pitchFamily="34" charset="0"/>
              </a:rPr>
              <a:t>Project Overview</a:t>
            </a:r>
          </a:p>
        </p:txBody>
      </p:sp>
      <p:sp>
        <p:nvSpPr>
          <p:cNvPr id="3" name="Content Placeholder 2">
            <a:extLst>
              <a:ext uri="{FF2B5EF4-FFF2-40B4-BE49-F238E27FC236}">
                <a16:creationId xmlns:a16="http://schemas.microsoft.com/office/drawing/2014/main" id="{7A443693-6BDF-86D6-7A95-B8EEAA14EB3B}"/>
              </a:ext>
            </a:extLst>
          </p:cNvPr>
          <p:cNvSpPr>
            <a:spLocks noGrp="1"/>
          </p:cNvSpPr>
          <p:nvPr>
            <p:ph idx="1"/>
          </p:nvPr>
        </p:nvSpPr>
        <p:spPr>
          <a:xfrm>
            <a:off x="838200" y="1253331"/>
            <a:ext cx="10515600" cy="4351338"/>
          </a:xfrm>
        </p:spPr>
        <p:txBody>
          <a:bodyPr>
            <a:normAutofit/>
          </a:bodyPr>
          <a:lstStyle/>
          <a:p>
            <a:pPr marL="0" indent="0" algn="just">
              <a:lnSpc>
                <a:spcPct val="150000"/>
              </a:lnSpc>
              <a:buNone/>
            </a:pPr>
            <a:r>
              <a:rPr lang="en-US" sz="2000" dirty="0"/>
              <a:t>     The Market Analysis project focuses on analyzing customer purchasing behavior, product performance, and ordering patterns using an online retail dataset. The project integrates multiple datasets, including orders, products, aisles, departments, and prior order details, to uncover meaningful business insights. By performing data cleaning, transformation, aggregation, and visualization, the analysis helps identify customer preferences, reorder behavior, peak shopping periods, and product demand. These insights support data-driven decision-making to optimize marketing strategies, inventory management, and overall customer satisfaction.</a:t>
            </a:r>
          </a:p>
        </p:txBody>
      </p:sp>
    </p:spTree>
    <p:extLst>
      <p:ext uri="{BB962C8B-B14F-4D97-AF65-F5344CB8AC3E}">
        <p14:creationId xmlns:p14="http://schemas.microsoft.com/office/powerpoint/2010/main" val="4181339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5242B17-196C-F538-5073-264FB95C4A2E}"/>
              </a:ext>
            </a:extLst>
          </p:cNvPr>
          <p:cNvGraphicFramePr>
            <a:graphicFrameLocks noGrp="1"/>
          </p:cNvGraphicFramePr>
          <p:nvPr>
            <p:ph idx="1"/>
            <p:extLst>
              <p:ext uri="{D42A27DB-BD31-4B8C-83A1-F6EECF244321}">
                <p14:modId xmlns:p14="http://schemas.microsoft.com/office/powerpoint/2010/main" val="2120314467"/>
              </p:ext>
            </p:extLst>
          </p:nvPr>
        </p:nvGraphicFramePr>
        <p:xfrm>
          <a:off x="737118" y="1072693"/>
          <a:ext cx="10616682" cy="3938080"/>
        </p:xfrm>
        <a:graphic>
          <a:graphicData uri="http://schemas.openxmlformats.org/drawingml/2006/table">
            <a:tbl>
              <a:tblPr/>
              <a:tblGrid>
                <a:gridCol w="5358882">
                  <a:extLst>
                    <a:ext uri="{9D8B030D-6E8A-4147-A177-3AD203B41FA5}">
                      <a16:colId xmlns:a16="http://schemas.microsoft.com/office/drawing/2014/main" val="2793188790"/>
                    </a:ext>
                  </a:extLst>
                </a:gridCol>
                <a:gridCol w="5257800">
                  <a:extLst>
                    <a:ext uri="{9D8B030D-6E8A-4147-A177-3AD203B41FA5}">
                      <a16:colId xmlns:a16="http://schemas.microsoft.com/office/drawing/2014/main" val="155943709"/>
                    </a:ext>
                  </a:extLst>
                </a:gridCol>
              </a:tblGrid>
              <a:tr h="352271">
                <a:tc>
                  <a:txBody>
                    <a:bodyPr/>
                    <a:lstStyle/>
                    <a:p>
                      <a:pPr marL="285750" indent="-285750" algn="just">
                        <a:buFont typeface="Arial" panose="020B0604020202020204" pitchFamily="34" charset="0"/>
                        <a:buChar char="•"/>
                      </a:pPr>
                      <a:r>
                        <a:rPr lang="en-US" dirty="0"/>
                        <a:t>Dataset</a:t>
                      </a:r>
                    </a:p>
                  </a:txBody>
                  <a:tcPr anchor="ctr">
                    <a:lnL>
                      <a:noFill/>
                    </a:lnL>
                    <a:lnR>
                      <a:noFill/>
                    </a:lnR>
                    <a:lnT>
                      <a:noFill/>
                    </a:lnT>
                    <a:lnB>
                      <a:noFill/>
                    </a:lnB>
                    <a:noFill/>
                  </a:tcPr>
                </a:tc>
                <a:tc>
                  <a:txBody>
                    <a:bodyPr/>
                    <a:lstStyle/>
                    <a:p>
                      <a:pPr marL="285750" indent="-285750" algn="just">
                        <a:buFont typeface="Arial" panose="020B0604020202020204" pitchFamily="34" charset="0"/>
                        <a:buChar char="•"/>
                      </a:pPr>
                      <a:r>
                        <a:rPr lang="en-US"/>
                        <a:t>Description</a:t>
                      </a:r>
                    </a:p>
                  </a:txBody>
                  <a:tcPr anchor="ctr">
                    <a:lnL>
                      <a:noFill/>
                    </a:lnL>
                    <a:lnR>
                      <a:noFill/>
                    </a:lnR>
                    <a:lnT>
                      <a:noFill/>
                    </a:lnT>
                    <a:lnB>
                      <a:noFill/>
                    </a:lnB>
                    <a:noFill/>
                  </a:tcPr>
                </a:tc>
                <a:extLst>
                  <a:ext uri="{0D108BD9-81ED-4DB2-BD59-A6C34878D82A}">
                    <a16:rowId xmlns:a16="http://schemas.microsoft.com/office/drawing/2014/main" val="169203317"/>
                  </a:ext>
                </a:extLst>
              </a:tr>
              <a:tr h="1238883">
                <a:tc>
                  <a:txBody>
                    <a:bodyPr/>
                    <a:lstStyle/>
                    <a:p>
                      <a:pPr marL="285750" indent="-285750" algn="just">
                        <a:buFont typeface="Arial" panose="020B0604020202020204" pitchFamily="34" charset="0"/>
                        <a:buChar char="•"/>
                      </a:pPr>
                      <a:r>
                        <a:rPr lang="en-US" b="1" dirty="0"/>
                        <a:t>Orders</a:t>
                      </a:r>
                      <a:endParaRPr lang="en-US" dirty="0"/>
                    </a:p>
                  </a:txBody>
                  <a:tcPr anchor="ctr">
                    <a:lnL>
                      <a:noFill/>
                    </a:lnL>
                    <a:lnR>
                      <a:noFill/>
                    </a:lnR>
                    <a:lnT>
                      <a:noFill/>
                    </a:lnT>
                    <a:lnB>
                      <a:noFill/>
                    </a:lnB>
                    <a:noFill/>
                  </a:tcPr>
                </a:tc>
                <a:tc>
                  <a:txBody>
                    <a:bodyPr/>
                    <a:lstStyle/>
                    <a:p>
                      <a:pPr marL="285750" indent="-285750" algn="just">
                        <a:lnSpc>
                          <a:spcPct val="150000"/>
                        </a:lnSpc>
                        <a:buFont typeface="Arial" panose="020B0604020202020204" pitchFamily="34" charset="0"/>
                        <a:buChar char="•"/>
                      </a:pPr>
                      <a:r>
                        <a:rPr lang="en-US" dirty="0"/>
                        <a:t>Contains customer order details such as user ID, order sequence, day of the week, hour of order, and days since the previous order.</a:t>
                      </a:r>
                    </a:p>
                  </a:txBody>
                  <a:tcPr anchor="ctr">
                    <a:lnL>
                      <a:noFill/>
                    </a:lnL>
                    <a:lnR>
                      <a:noFill/>
                    </a:lnR>
                    <a:lnT>
                      <a:noFill/>
                    </a:lnT>
                    <a:lnB>
                      <a:noFill/>
                    </a:lnB>
                    <a:noFill/>
                  </a:tcPr>
                </a:tc>
                <a:extLst>
                  <a:ext uri="{0D108BD9-81ED-4DB2-BD59-A6C34878D82A}">
                    <a16:rowId xmlns:a16="http://schemas.microsoft.com/office/drawing/2014/main" val="3031631187"/>
                  </a:ext>
                </a:extLst>
              </a:tr>
              <a:tr h="880678">
                <a:tc>
                  <a:txBody>
                    <a:bodyPr/>
                    <a:lstStyle/>
                    <a:p>
                      <a:pPr marL="285750" indent="-285750" algn="just">
                        <a:buFont typeface="Arial" panose="020B0604020202020204" pitchFamily="34" charset="0"/>
                        <a:buChar char="•"/>
                      </a:pPr>
                      <a:r>
                        <a:rPr lang="en-US" b="1" dirty="0"/>
                        <a:t>Order Products train</a:t>
                      </a:r>
                      <a:endParaRPr lang="en-US" dirty="0"/>
                    </a:p>
                  </a:txBody>
                  <a:tcPr anchor="ctr">
                    <a:lnL>
                      <a:noFill/>
                    </a:lnL>
                    <a:lnR>
                      <a:noFill/>
                    </a:lnR>
                    <a:lnT>
                      <a:noFill/>
                    </a:lnT>
                    <a:lnB>
                      <a:noFill/>
                    </a:lnB>
                    <a:noFill/>
                  </a:tcPr>
                </a:tc>
                <a:tc>
                  <a:txBody>
                    <a:bodyPr/>
                    <a:lstStyle/>
                    <a:p>
                      <a:pPr marL="285750" indent="-285750" algn="just">
                        <a:buFont typeface="Arial" panose="020B0604020202020204" pitchFamily="34" charset="0"/>
                        <a:buChar char="•"/>
                      </a:pPr>
                      <a:r>
                        <a:rPr lang="en-US" dirty="0"/>
                        <a:t>Records the products included in each order, their cart position, and whether they were reordered.</a:t>
                      </a:r>
                    </a:p>
                  </a:txBody>
                  <a:tcPr anchor="ctr">
                    <a:lnL>
                      <a:noFill/>
                    </a:lnL>
                    <a:lnR>
                      <a:noFill/>
                    </a:lnR>
                    <a:lnT>
                      <a:noFill/>
                    </a:lnT>
                    <a:lnB>
                      <a:noFill/>
                    </a:lnB>
                    <a:noFill/>
                  </a:tcPr>
                </a:tc>
                <a:extLst>
                  <a:ext uri="{0D108BD9-81ED-4DB2-BD59-A6C34878D82A}">
                    <a16:rowId xmlns:a16="http://schemas.microsoft.com/office/drawing/2014/main" val="332370266"/>
                  </a:ext>
                </a:extLst>
              </a:tr>
              <a:tr h="616475">
                <a:tc>
                  <a:txBody>
                    <a:bodyPr/>
                    <a:lstStyle/>
                    <a:p>
                      <a:pPr marL="285750" indent="-285750" algn="just">
                        <a:buFont typeface="Arial" panose="020B0604020202020204" pitchFamily="34" charset="0"/>
                        <a:buChar char="•"/>
                      </a:pPr>
                      <a:r>
                        <a:rPr lang="en-US" b="1"/>
                        <a:t>Products</a:t>
                      </a:r>
                      <a:endParaRPr lang="en-US"/>
                    </a:p>
                  </a:txBody>
                  <a:tcPr anchor="ctr">
                    <a:lnL>
                      <a:noFill/>
                    </a:lnL>
                    <a:lnR>
                      <a:noFill/>
                    </a:lnR>
                    <a:lnT>
                      <a:noFill/>
                    </a:lnT>
                    <a:lnB>
                      <a:noFill/>
                    </a:lnB>
                    <a:noFill/>
                  </a:tcPr>
                </a:tc>
                <a:tc>
                  <a:txBody>
                    <a:bodyPr/>
                    <a:lstStyle/>
                    <a:p>
                      <a:pPr marL="285750" indent="-285750" algn="just">
                        <a:buFont typeface="Arial" panose="020B0604020202020204" pitchFamily="34" charset="0"/>
                        <a:buChar char="•"/>
                      </a:pPr>
                      <a:r>
                        <a:rPr lang="en-US" dirty="0"/>
                        <a:t>Contains product names along with their corresponding aisle and department IDs.</a:t>
                      </a:r>
                    </a:p>
                  </a:txBody>
                  <a:tcPr anchor="ctr">
                    <a:lnL>
                      <a:noFill/>
                    </a:lnL>
                    <a:lnR>
                      <a:noFill/>
                    </a:lnR>
                    <a:lnT>
                      <a:noFill/>
                    </a:lnT>
                    <a:lnB>
                      <a:noFill/>
                    </a:lnB>
                    <a:noFill/>
                  </a:tcPr>
                </a:tc>
                <a:extLst>
                  <a:ext uri="{0D108BD9-81ED-4DB2-BD59-A6C34878D82A}">
                    <a16:rowId xmlns:a16="http://schemas.microsoft.com/office/drawing/2014/main" val="923914627"/>
                  </a:ext>
                </a:extLst>
              </a:tr>
              <a:tr h="352271">
                <a:tc>
                  <a:txBody>
                    <a:bodyPr/>
                    <a:lstStyle/>
                    <a:p>
                      <a:pPr marL="285750" indent="-285750" algn="just">
                        <a:buFont typeface="Arial" panose="020B0604020202020204" pitchFamily="34" charset="0"/>
                        <a:buChar char="•"/>
                      </a:pPr>
                      <a:r>
                        <a:rPr lang="en-US" b="1"/>
                        <a:t>Aisles</a:t>
                      </a:r>
                      <a:endParaRPr lang="en-US"/>
                    </a:p>
                  </a:txBody>
                  <a:tcPr anchor="ctr">
                    <a:lnL>
                      <a:noFill/>
                    </a:lnL>
                    <a:lnR>
                      <a:noFill/>
                    </a:lnR>
                    <a:lnT>
                      <a:noFill/>
                    </a:lnT>
                    <a:lnB>
                      <a:noFill/>
                    </a:lnB>
                    <a:noFill/>
                  </a:tcPr>
                </a:tc>
                <a:tc>
                  <a:txBody>
                    <a:bodyPr/>
                    <a:lstStyle/>
                    <a:p>
                      <a:pPr marL="285750" indent="-285750" algn="just">
                        <a:buFont typeface="Arial" panose="020B0604020202020204" pitchFamily="34" charset="0"/>
                        <a:buChar char="•"/>
                      </a:pPr>
                      <a:r>
                        <a:rPr lang="en-US" dirty="0"/>
                        <a:t>Lists aisle IDs and aisle names.</a:t>
                      </a:r>
                    </a:p>
                  </a:txBody>
                  <a:tcPr anchor="ctr">
                    <a:lnL>
                      <a:noFill/>
                    </a:lnL>
                    <a:lnR>
                      <a:noFill/>
                    </a:lnR>
                    <a:lnT>
                      <a:noFill/>
                    </a:lnT>
                    <a:lnB>
                      <a:noFill/>
                    </a:lnB>
                    <a:noFill/>
                  </a:tcPr>
                </a:tc>
                <a:extLst>
                  <a:ext uri="{0D108BD9-81ED-4DB2-BD59-A6C34878D82A}">
                    <a16:rowId xmlns:a16="http://schemas.microsoft.com/office/drawing/2014/main" val="1479780727"/>
                  </a:ext>
                </a:extLst>
              </a:tr>
              <a:tr h="352271">
                <a:tc>
                  <a:txBody>
                    <a:bodyPr/>
                    <a:lstStyle/>
                    <a:p>
                      <a:pPr marL="285750" indent="-285750" algn="just">
                        <a:buFont typeface="Arial" panose="020B0604020202020204" pitchFamily="34" charset="0"/>
                        <a:buChar char="•"/>
                      </a:pPr>
                      <a:r>
                        <a:rPr lang="en-US" b="1"/>
                        <a:t>Departments</a:t>
                      </a:r>
                      <a:endParaRPr lang="en-US"/>
                    </a:p>
                  </a:txBody>
                  <a:tcPr anchor="ctr">
                    <a:lnL>
                      <a:noFill/>
                    </a:lnL>
                    <a:lnR>
                      <a:noFill/>
                    </a:lnR>
                    <a:lnT>
                      <a:noFill/>
                    </a:lnT>
                    <a:lnB>
                      <a:noFill/>
                    </a:lnB>
                    <a:noFill/>
                  </a:tcPr>
                </a:tc>
                <a:tc>
                  <a:txBody>
                    <a:bodyPr/>
                    <a:lstStyle/>
                    <a:p>
                      <a:pPr marL="285750" indent="-285750" algn="just">
                        <a:buFont typeface="Arial" panose="020B0604020202020204" pitchFamily="34" charset="0"/>
                        <a:buChar char="•"/>
                      </a:pPr>
                      <a:r>
                        <a:rPr lang="en-US" dirty="0"/>
                        <a:t>Lists department IDs and department names.</a:t>
                      </a:r>
                    </a:p>
                  </a:txBody>
                  <a:tcPr anchor="ctr">
                    <a:lnL>
                      <a:noFill/>
                    </a:lnL>
                    <a:lnR>
                      <a:noFill/>
                    </a:lnR>
                    <a:lnT>
                      <a:noFill/>
                    </a:lnT>
                    <a:lnB>
                      <a:noFill/>
                    </a:lnB>
                    <a:noFill/>
                  </a:tcPr>
                </a:tc>
                <a:extLst>
                  <a:ext uri="{0D108BD9-81ED-4DB2-BD59-A6C34878D82A}">
                    <a16:rowId xmlns:a16="http://schemas.microsoft.com/office/drawing/2014/main" val="1409962288"/>
                  </a:ext>
                </a:extLst>
              </a:tr>
            </a:tbl>
          </a:graphicData>
        </a:graphic>
      </p:graphicFrame>
      <p:sp>
        <p:nvSpPr>
          <p:cNvPr id="5" name="Rectangle 1">
            <a:extLst>
              <a:ext uri="{FF2B5EF4-FFF2-40B4-BE49-F238E27FC236}">
                <a16:creationId xmlns:a16="http://schemas.microsoft.com/office/drawing/2014/main" id="{2900F951-D8A6-9B52-78E5-2E625884C382}"/>
              </a:ext>
            </a:extLst>
          </p:cNvPr>
          <p:cNvSpPr>
            <a:spLocks noChangeArrowheads="1"/>
          </p:cNvSpPr>
          <p:nvPr/>
        </p:nvSpPr>
        <p:spPr bwMode="auto">
          <a:xfrm>
            <a:off x="838200" y="5115893"/>
            <a:ext cx="10515600"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Dataset Overview</a:t>
            </a:r>
          </a:p>
          <a:p>
            <a:pPr marL="0" marR="0" lvl="0" indent="0" algn="just" defTabSz="914400" rtl="0" eaLnBrk="0" fontAlgn="base" latinLnBrk="0" hangingPunct="0">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project uses five related datasets:</a:t>
            </a:r>
          </a:p>
          <a:p>
            <a:pPr marL="0" marR="0" lvl="0" indent="0" algn="just" defTabSz="914400" rtl="0" eaLnBrk="0" fontAlgn="base" latinLnBrk="0" hangingPunct="0">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datasets are linked using primary keys such as </a:t>
            </a:r>
            <a:r>
              <a:rPr kumimoji="0" lang="en-US" altLang="en-US" b="1" i="0" u="none" strike="noStrike" cap="none" normalizeH="0" baseline="0" dirty="0" err="1">
                <a:ln>
                  <a:noFill/>
                </a:ln>
                <a:solidFill>
                  <a:schemeClr val="tx1"/>
                </a:solidFill>
                <a:effectLst/>
                <a:latin typeface="Arial" panose="020B0604020202020204" pitchFamily="34" charset="0"/>
              </a:rPr>
              <a:t>order_id</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product_id</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aisle_id</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err="1">
                <a:ln>
                  <a:noFill/>
                </a:ln>
                <a:solidFill>
                  <a:schemeClr val="tx1"/>
                </a:solidFill>
                <a:effectLst/>
                <a:latin typeface="Arial" panose="020B0604020202020204" pitchFamily="34" charset="0"/>
              </a:rPr>
              <a:t>department_id</a:t>
            </a:r>
            <a:r>
              <a:rPr kumimoji="0" lang="en-US" altLang="en-US" b="0" i="0" u="none" strike="noStrike" cap="none" normalizeH="0" baseline="0" dirty="0">
                <a:ln>
                  <a:noFill/>
                </a:ln>
                <a:solidFill>
                  <a:schemeClr val="tx1"/>
                </a:solidFill>
                <a:effectLst/>
                <a:latin typeface="Arial" panose="020B0604020202020204" pitchFamily="34" charset="0"/>
              </a:rPr>
              <a:t> to perform comprehensive analysis across multiple tables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6" name="Title 1">
            <a:extLst>
              <a:ext uri="{FF2B5EF4-FFF2-40B4-BE49-F238E27FC236}">
                <a16:creationId xmlns:a16="http://schemas.microsoft.com/office/drawing/2014/main" id="{C1E6E982-CB4C-0B91-D37B-F7CDDA755276}"/>
              </a:ext>
            </a:extLst>
          </p:cNvPr>
          <p:cNvSpPr txBox="1">
            <a:spLocks/>
          </p:cNvSpPr>
          <p:nvPr/>
        </p:nvSpPr>
        <p:spPr>
          <a:xfrm>
            <a:off x="0"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Database Overview(</a:t>
            </a:r>
            <a:r>
              <a:rPr lang="en-US" sz="2800" b="1" dirty="0" err="1">
                <a:latin typeface="Bahnschrift" panose="020B0502040204020203" pitchFamily="34" charset="0"/>
              </a:rPr>
              <a:t>project_orders</a:t>
            </a:r>
            <a:r>
              <a:rPr lang="en-US" sz="2800" b="1" dirty="0">
                <a:latin typeface="Bahnschrift" panose="020B0502040204020203" pitchFamily="34" charset="0"/>
              </a:rPr>
              <a:t>)</a:t>
            </a:r>
          </a:p>
        </p:txBody>
      </p:sp>
    </p:spTree>
    <p:extLst>
      <p:ext uri="{BB962C8B-B14F-4D97-AF65-F5344CB8AC3E}">
        <p14:creationId xmlns:p14="http://schemas.microsoft.com/office/powerpoint/2010/main" val="99487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93B5CD9-7BB3-F972-5BB3-B5DD002CCDDD}"/>
              </a:ext>
            </a:extLst>
          </p:cNvPr>
          <p:cNvSpPr txBox="1">
            <a:spLocks/>
          </p:cNvSpPr>
          <p:nvPr/>
        </p:nvSpPr>
        <p:spPr>
          <a:xfrm>
            <a:off x="0"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Project Objectives</a:t>
            </a:r>
          </a:p>
        </p:txBody>
      </p:sp>
      <p:sp>
        <p:nvSpPr>
          <p:cNvPr id="5" name="Rectangle 1">
            <a:extLst>
              <a:ext uri="{FF2B5EF4-FFF2-40B4-BE49-F238E27FC236}">
                <a16:creationId xmlns:a16="http://schemas.microsoft.com/office/drawing/2014/main" id="{31053655-0ED2-0151-9ED5-1F0BDFF9F68A}"/>
              </a:ext>
            </a:extLst>
          </p:cNvPr>
          <p:cNvSpPr>
            <a:spLocks noGrp="1" noChangeArrowheads="1"/>
          </p:cNvSpPr>
          <p:nvPr>
            <p:ph idx="1"/>
          </p:nvPr>
        </p:nvSpPr>
        <p:spPr bwMode="auto">
          <a:xfrm>
            <a:off x="933451" y="787400"/>
            <a:ext cx="10458450" cy="4057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Analyze customer purchasing behavior and shopping patterns.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Identify the top-selling and most reordered products.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Evaluate product distribution across aisles and departments.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Analyze order volume by day of the week and hour of the day.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Study customer reorder behavior and average time between orders.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Measure average order size and products added per cart.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Identify the most active users and frequently purchased products.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Generate business insights that help optimize marketing strategies, inventory planning, and customer satisfaction </a:t>
            </a:r>
          </a:p>
        </p:txBody>
      </p:sp>
    </p:spTree>
    <p:extLst>
      <p:ext uri="{BB962C8B-B14F-4D97-AF65-F5344CB8AC3E}">
        <p14:creationId xmlns:p14="http://schemas.microsoft.com/office/powerpoint/2010/main" val="1535954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820F391-21B4-D3C6-0231-DF2A6FBFF78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4264" t="2772" r="1203" b="2575"/>
          <a:stretch/>
        </p:blipFill>
        <p:spPr>
          <a:xfrm>
            <a:off x="158620" y="967378"/>
            <a:ext cx="4963886" cy="2929188"/>
          </a:xfrm>
        </p:spPr>
      </p:pic>
      <p:sp>
        <p:nvSpPr>
          <p:cNvPr id="4" name="Title 1">
            <a:extLst>
              <a:ext uri="{FF2B5EF4-FFF2-40B4-BE49-F238E27FC236}">
                <a16:creationId xmlns:a16="http://schemas.microsoft.com/office/drawing/2014/main" id="{EB50A8A6-9A0C-2DBD-AD28-793A725337A0}"/>
              </a:ext>
            </a:extLst>
          </p:cNvPr>
          <p:cNvSpPr txBox="1">
            <a:spLocks/>
          </p:cNvSpPr>
          <p:nvPr/>
        </p:nvSpPr>
        <p:spPr>
          <a:xfrm>
            <a:off x="-27992"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Top 10 Aisles by Products</a:t>
            </a:r>
          </a:p>
        </p:txBody>
      </p:sp>
      <p:sp>
        <p:nvSpPr>
          <p:cNvPr id="8" name="Rectangle 1">
            <a:extLst>
              <a:ext uri="{FF2B5EF4-FFF2-40B4-BE49-F238E27FC236}">
                <a16:creationId xmlns:a16="http://schemas.microsoft.com/office/drawing/2014/main" id="{CC561988-2B02-05CF-7AAD-ACCCD6D8D638}"/>
              </a:ext>
            </a:extLst>
          </p:cNvPr>
          <p:cNvSpPr>
            <a:spLocks noChangeArrowheads="1"/>
          </p:cNvSpPr>
          <p:nvPr/>
        </p:nvSpPr>
        <p:spPr bwMode="auto">
          <a:xfrm flipH="1">
            <a:off x="5122506" y="787400"/>
            <a:ext cx="6235959" cy="3226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'missing' aisle</a:t>
            </a:r>
            <a:r>
              <a:rPr kumimoji="0" lang="en-US" altLang="en-US" sz="1800" b="0" i="0" u="none" strike="noStrike" cap="none" normalizeH="0" baseline="0" dirty="0">
                <a:ln>
                  <a:noFill/>
                </a:ln>
                <a:solidFill>
                  <a:schemeClr val="tx1"/>
                </a:solidFill>
                <a:effectLst/>
                <a:latin typeface="Arial" panose="020B0604020202020204" pitchFamily="34" charset="0"/>
              </a:rPr>
              <a:t> contains the highest number of products (</a:t>
            </a:r>
            <a:r>
              <a:rPr kumimoji="0" lang="en-US" altLang="en-US" sz="1800" b="1" i="0" u="none" strike="noStrike" cap="none" normalizeH="0" baseline="0" dirty="0">
                <a:ln>
                  <a:noFill/>
                </a:ln>
                <a:solidFill>
                  <a:schemeClr val="tx1"/>
                </a:solidFill>
                <a:effectLst/>
                <a:latin typeface="Arial" panose="020B0604020202020204" pitchFamily="34" charset="0"/>
              </a:rPr>
              <a:t>1,254</a:t>
            </a:r>
            <a:r>
              <a:rPr kumimoji="0" lang="en-US" altLang="en-US" sz="1800" b="0" i="0" u="none" strike="noStrike" cap="none" normalizeH="0" baseline="0" dirty="0">
                <a:ln>
                  <a:noFill/>
                </a:ln>
                <a:solidFill>
                  <a:schemeClr val="tx1"/>
                </a:solidFill>
                <a:effectLst/>
                <a:latin typeface="Arial" panose="020B0604020202020204" pitchFamily="34" charset="0"/>
              </a:rPr>
              <a:t>), indicating that a significant number of products are not assigned to a specific aisle and may require data quality improvements.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Candy Chocolate (1,235)</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Ice Cream Ice (1,084)</a:t>
            </a:r>
            <a:r>
              <a:rPr kumimoji="0" lang="en-US" altLang="en-US" sz="1800" b="0" i="0" u="none" strike="noStrike" cap="none" normalizeH="0" baseline="0" dirty="0">
                <a:ln>
                  <a:noFill/>
                </a:ln>
                <a:solidFill>
                  <a:schemeClr val="tx1"/>
                </a:solidFill>
                <a:effectLst/>
                <a:latin typeface="Arial" panose="020B0604020202020204" pitchFamily="34" charset="0"/>
              </a:rPr>
              <a:t> are among the largest aisles, showing that snack and frozen dessert categories have a wide product variety. </a:t>
            </a:r>
          </a:p>
        </p:txBody>
      </p:sp>
      <p:sp>
        <p:nvSpPr>
          <p:cNvPr id="10" name="TextBox 9">
            <a:extLst>
              <a:ext uri="{FF2B5EF4-FFF2-40B4-BE49-F238E27FC236}">
                <a16:creationId xmlns:a16="http://schemas.microsoft.com/office/drawing/2014/main" id="{692B4BDC-F6B5-CB44-BDE8-099EA0339F1C}"/>
              </a:ext>
            </a:extLst>
          </p:cNvPr>
          <p:cNvSpPr txBox="1"/>
          <p:nvPr/>
        </p:nvSpPr>
        <p:spPr>
          <a:xfrm>
            <a:off x="111967" y="3896566"/>
            <a:ext cx="11190514" cy="2534027"/>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Vitamins &amp; Supplements (1,030)</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Yogurt (1,023)</a:t>
            </a:r>
            <a:r>
              <a:rPr kumimoji="0" lang="en-US" altLang="en-US" sz="1800" b="0" i="0" u="none" strike="noStrike" cap="none" normalizeH="0" baseline="0" dirty="0">
                <a:ln>
                  <a:noFill/>
                </a:ln>
                <a:solidFill>
                  <a:schemeClr val="tx1"/>
                </a:solidFill>
                <a:effectLst/>
                <a:latin typeface="Arial" panose="020B0604020202020204" pitchFamily="34" charset="0"/>
              </a:rPr>
              <a:t> also contain a large number of products, reflecting strong product diversity in health and dairy categories.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difference between the highest-ranked aisle (</a:t>
            </a:r>
            <a:r>
              <a:rPr kumimoji="0" lang="en-US" altLang="en-US" sz="1800" b="1" i="0" u="none" strike="noStrike" cap="none" normalizeH="0" baseline="0" dirty="0">
                <a:ln>
                  <a:noFill/>
                </a:ln>
                <a:solidFill>
                  <a:schemeClr val="tx1"/>
                </a:solidFill>
                <a:effectLst/>
                <a:latin typeface="Arial" panose="020B0604020202020204" pitchFamily="34" charset="0"/>
              </a:rPr>
              <a:t>1,254 products</a:t>
            </a:r>
            <a:r>
              <a:rPr kumimoji="0" lang="en-US" altLang="en-US" sz="1800" b="0" i="0" u="none" strike="noStrike" cap="none" normalizeH="0" baseline="0" dirty="0">
                <a:ln>
                  <a:noFill/>
                </a:ln>
                <a:solidFill>
                  <a:schemeClr val="tx1"/>
                </a:solidFill>
                <a:effectLst/>
                <a:latin typeface="Arial" panose="020B0604020202020204" pitchFamily="34" charset="0"/>
              </a:rPr>
              <a:t>) and the tenth-ranked aisle (</a:t>
            </a:r>
            <a:r>
              <a:rPr kumimoji="0" lang="en-US" altLang="en-US" sz="1800" b="1" i="0" u="none" strike="noStrike" cap="none" normalizeH="0" baseline="0" dirty="0">
                <a:ln>
                  <a:noFill/>
                </a:ln>
                <a:solidFill>
                  <a:schemeClr val="tx1"/>
                </a:solidFill>
                <a:effectLst/>
                <a:latin typeface="Arial" panose="020B0604020202020204" pitchFamily="34" charset="0"/>
              </a:rPr>
              <a:t>869 products</a:t>
            </a:r>
            <a:r>
              <a:rPr kumimoji="0" lang="en-US" altLang="en-US" sz="1800" b="0" i="0" u="none" strike="noStrike" cap="none" normalizeH="0" baseline="0" dirty="0">
                <a:ln>
                  <a:noFill/>
                </a:ln>
                <a:solidFill>
                  <a:schemeClr val="tx1"/>
                </a:solidFill>
                <a:effectLst/>
                <a:latin typeface="Arial" panose="020B0604020202020204" pitchFamily="34" charset="0"/>
              </a:rPr>
              <a:t>) is relatively small, indicating a balanced distribution among the top aisles.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Most of the top aisles are related to </a:t>
            </a:r>
            <a:r>
              <a:rPr kumimoji="0" lang="en-US" altLang="en-US" sz="1800" b="1" i="0" u="none" strike="noStrike" cap="none" normalizeH="0" baseline="0" dirty="0">
                <a:ln>
                  <a:noFill/>
                </a:ln>
                <a:solidFill>
                  <a:schemeClr val="tx1"/>
                </a:solidFill>
                <a:effectLst/>
                <a:latin typeface="Arial" panose="020B0604020202020204" pitchFamily="34" charset="0"/>
              </a:rPr>
              <a:t>daily consumer goods</a:t>
            </a:r>
            <a:r>
              <a:rPr kumimoji="0" lang="en-US" altLang="en-US" sz="1800" b="0" i="0" u="none" strike="noStrike" cap="none" normalizeH="0" baseline="0" dirty="0">
                <a:ln>
                  <a:noFill/>
                </a:ln>
                <a:solidFill>
                  <a:schemeClr val="tx1"/>
                </a:solidFill>
                <a:effectLst/>
                <a:latin typeface="Arial" panose="020B0604020202020204" pitchFamily="34" charset="0"/>
              </a:rPr>
              <a:t>, suggesting that the retailer focuses heavily on frequently purchased grocery items. </a:t>
            </a:r>
          </a:p>
        </p:txBody>
      </p:sp>
    </p:spTree>
    <p:extLst>
      <p:ext uri="{BB962C8B-B14F-4D97-AF65-F5344CB8AC3E}">
        <p14:creationId xmlns:p14="http://schemas.microsoft.com/office/powerpoint/2010/main" val="4270559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0429DA5-B1DF-C762-8F45-66367C3D4B56}"/>
              </a:ext>
            </a:extLst>
          </p:cNvPr>
          <p:cNvSpPr txBox="1">
            <a:spLocks/>
          </p:cNvSpPr>
          <p:nvPr/>
        </p:nvSpPr>
        <p:spPr>
          <a:xfrm>
            <a:off x="-27992"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2800" b="1" dirty="0">
                <a:latin typeface="Bahnschrift" panose="020B0502040204020203" pitchFamily="34" charset="0"/>
                <a:ea typeface="Book Antiqua" panose="02040602050305030304" pitchFamily="18" charset="0"/>
                <a:cs typeface="Book Antiqua" panose="02040602050305030304" pitchFamily="18" charset="0"/>
              </a:rPr>
              <a:t>U</a:t>
            </a:r>
            <a:r>
              <a:rPr lang="en-IN" sz="2800" b="1" dirty="0">
                <a:effectLst/>
                <a:latin typeface="Bahnschrift" panose="020B0502040204020203" pitchFamily="34" charset="0"/>
                <a:ea typeface="Book Antiqua" panose="02040602050305030304" pitchFamily="18" charset="0"/>
                <a:cs typeface="Book Antiqua" panose="02040602050305030304" pitchFamily="18" charset="0"/>
              </a:rPr>
              <a:t>nique </a:t>
            </a:r>
            <a:r>
              <a:rPr lang="en-IN" sz="2800" b="1" dirty="0">
                <a:latin typeface="Bahnschrift" panose="020B0502040204020203" pitchFamily="34" charset="0"/>
                <a:ea typeface="Book Antiqua" panose="02040602050305030304" pitchFamily="18" charset="0"/>
                <a:cs typeface="Book Antiqua" panose="02040602050305030304" pitchFamily="18" charset="0"/>
              </a:rPr>
              <a:t>D</a:t>
            </a:r>
            <a:r>
              <a:rPr lang="en-IN" sz="2800" b="1" dirty="0">
                <a:effectLst/>
                <a:latin typeface="Bahnschrift" panose="020B0502040204020203" pitchFamily="34" charset="0"/>
                <a:ea typeface="Book Antiqua" panose="02040602050305030304" pitchFamily="18" charset="0"/>
                <a:cs typeface="Book Antiqua" panose="02040602050305030304" pitchFamily="18" charset="0"/>
              </a:rPr>
              <a:t>epartments</a:t>
            </a:r>
            <a:endParaRPr lang="en-US" sz="2800" b="1" dirty="0">
              <a:latin typeface="Bahnschrift" panose="020B0502040204020203" pitchFamily="34" charset="0"/>
            </a:endParaRPr>
          </a:p>
        </p:txBody>
      </p:sp>
      <p:pic>
        <p:nvPicPr>
          <p:cNvPr id="6" name="Picture 5">
            <a:extLst>
              <a:ext uri="{FF2B5EF4-FFF2-40B4-BE49-F238E27FC236}">
                <a16:creationId xmlns:a16="http://schemas.microsoft.com/office/drawing/2014/main" id="{A88A2481-B5D6-E694-5A72-B1123F328495}"/>
              </a:ext>
            </a:extLst>
          </p:cNvPr>
          <p:cNvPicPr>
            <a:picLocks noChangeAspect="1"/>
          </p:cNvPicPr>
          <p:nvPr/>
        </p:nvPicPr>
        <p:blipFill>
          <a:blip r:embed="rId2">
            <a:extLst>
              <a:ext uri="{28A0092B-C50C-407E-A947-70E740481C1C}">
                <a14:useLocalDpi xmlns:a14="http://schemas.microsoft.com/office/drawing/2010/main" val="0"/>
              </a:ext>
            </a:extLst>
          </a:blip>
          <a:srcRect l="8508" r="10114" b="6269"/>
          <a:stretch/>
        </p:blipFill>
        <p:spPr>
          <a:xfrm>
            <a:off x="643810" y="1135683"/>
            <a:ext cx="2677887" cy="1542203"/>
          </a:xfrm>
          <a:prstGeom prst="rect">
            <a:avLst/>
          </a:prstGeom>
        </p:spPr>
      </p:pic>
      <p:sp>
        <p:nvSpPr>
          <p:cNvPr id="8" name="TextBox 7">
            <a:extLst>
              <a:ext uri="{FF2B5EF4-FFF2-40B4-BE49-F238E27FC236}">
                <a16:creationId xmlns:a16="http://schemas.microsoft.com/office/drawing/2014/main" id="{702DE51A-413C-77BB-DF89-5FAE3FE578D9}"/>
              </a:ext>
            </a:extLst>
          </p:cNvPr>
          <p:cNvSpPr txBox="1"/>
          <p:nvPr/>
        </p:nvSpPr>
        <p:spPr>
          <a:xfrm>
            <a:off x="3410339" y="1453744"/>
            <a:ext cx="7917023" cy="3341749"/>
          </a:xfrm>
          <a:prstGeom prst="rect">
            <a:avLst/>
          </a:prstGeom>
          <a:noFill/>
        </p:spPr>
        <p:txBody>
          <a:bodyPr wrap="square">
            <a:spAutoFit/>
          </a:bodyPr>
          <a:lstStyle/>
          <a:p>
            <a:pPr marL="285750" indent="-285750" algn="just">
              <a:lnSpc>
                <a:spcPct val="200000"/>
              </a:lnSpc>
              <a:buFont typeface="Wingdings" panose="05000000000000000000" pitchFamily="2" charset="2"/>
              <a:buChar char="q"/>
            </a:pPr>
            <a:r>
              <a:rPr lang="en-US" dirty="0"/>
              <a:t>The dataset consists of </a:t>
            </a:r>
            <a:r>
              <a:rPr lang="en-US" b="1" dirty="0"/>
              <a:t>21 departments</a:t>
            </a:r>
            <a:r>
              <a:rPr lang="en-US" dirty="0"/>
              <a:t>, representing a wide range of product categories. </a:t>
            </a:r>
          </a:p>
          <a:p>
            <a:pPr marL="285750" indent="-285750" algn="just">
              <a:lnSpc>
                <a:spcPct val="200000"/>
              </a:lnSpc>
              <a:buFont typeface="Wingdings" panose="05000000000000000000" pitchFamily="2" charset="2"/>
              <a:buChar char="q"/>
            </a:pPr>
            <a:r>
              <a:rPr lang="en-US" dirty="0"/>
              <a:t>These departments provide a structured hierarchy that helps organize products efficiently for inventory management and reporting. </a:t>
            </a:r>
          </a:p>
          <a:p>
            <a:pPr marL="285750" indent="-285750" algn="just">
              <a:lnSpc>
                <a:spcPct val="200000"/>
              </a:lnSpc>
              <a:buFont typeface="Wingdings" panose="05000000000000000000" pitchFamily="2" charset="2"/>
              <a:buChar char="q"/>
            </a:pPr>
            <a:r>
              <a:rPr lang="en-US" dirty="0"/>
              <a:t>The relatively small number of departments simplifies category-level analysis while still covering diverse product segments. </a:t>
            </a:r>
          </a:p>
        </p:txBody>
      </p:sp>
      <p:sp>
        <p:nvSpPr>
          <p:cNvPr id="9" name="TextBox 8">
            <a:extLst>
              <a:ext uri="{FF2B5EF4-FFF2-40B4-BE49-F238E27FC236}">
                <a16:creationId xmlns:a16="http://schemas.microsoft.com/office/drawing/2014/main" id="{FC432413-482E-EF54-989D-FE1CA355FEE6}"/>
              </a:ext>
            </a:extLst>
          </p:cNvPr>
          <p:cNvSpPr txBox="1"/>
          <p:nvPr/>
        </p:nvSpPr>
        <p:spPr>
          <a:xfrm>
            <a:off x="3671597" y="1135683"/>
            <a:ext cx="1548882"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INSIGHTS</a:t>
            </a:r>
          </a:p>
        </p:txBody>
      </p:sp>
    </p:spTree>
    <p:extLst>
      <p:ext uri="{BB962C8B-B14F-4D97-AF65-F5344CB8AC3E}">
        <p14:creationId xmlns:p14="http://schemas.microsoft.com/office/powerpoint/2010/main" val="1183242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959A819-4197-2395-7D27-4FC690D2FAB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794" t="2646" r="849" b="1718"/>
          <a:stretch/>
        </p:blipFill>
        <p:spPr>
          <a:xfrm>
            <a:off x="74645" y="858418"/>
            <a:ext cx="5654350" cy="3318210"/>
          </a:xfrm>
        </p:spPr>
      </p:pic>
      <p:sp>
        <p:nvSpPr>
          <p:cNvPr id="4" name="Title 1">
            <a:extLst>
              <a:ext uri="{FF2B5EF4-FFF2-40B4-BE49-F238E27FC236}">
                <a16:creationId xmlns:a16="http://schemas.microsoft.com/office/drawing/2014/main" id="{4691E8D4-FC4D-7378-F894-47E6FB9DF4E8}"/>
              </a:ext>
            </a:extLst>
          </p:cNvPr>
          <p:cNvSpPr txBox="1">
            <a:spLocks/>
          </p:cNvSpPr>
          <p:nvPr/>
        </p:nvSpPr>
        <p:spPr>
          <a:xfrm>
            <a:off x="-27992"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2800" b="1" dirty="0">
                <a:latin typeface="Bahnschrift" panose="020B0502040204020203" pitchFamily="34" charset="0"/>
                <a:ea typeface="Book Antiqua" panose="02040602050305030304" pitchFamily="18" charset="0"/>
                <a:cs typeface="Book Antiqua" panose="02040602050305030304" pitchFamily="18" charset="0"/>
              </a:rPr>
              <a:t>D</a:t>
            </a:r>
            <a:r>
              <a:rPr lang="en-IN" sz="2800" b="1" dirty="0">
                <a:effectLst/>
                <a:latin typeface="Bahnschrift" panose="020B0502040204020203" pitchFamily="34" charset="0"/>
                <a:ea typeface="Book Antiqua" panose="02040602050305030304" pitchFamily="18" charset="0"/>
                <a:cs typeface="Book Antiqua" panose="02040602050305030304" pitchFamily="18" charset="0"/>
              </a:rPr>
              <a:t>istribution of Products across Departments</a:t>
            </a:r>
            <a:endParaRPr lang="en-US" sz="2800" b="1" dirty="0">
              <a:latin typeface="Bahnschrift" panose="020B0502040204020203" pitchFamily="34" charset="0"/>
            </a:endParaRPr>
          </a:p>
        </p:txBody>
      </p:sp>
      <p:sp>
        <p:nvSpPr>
          <p:cNvPr id="7" name="Rectangle 1">
            <a:extLst>
              <a:ext uri="{FF2B5EF4-FFF2-40B4-BE49-F238E27FC236}">
                <a16:creationId xmlns:a16="http://schemas.microsoft.com/office/drawing/2014/main" id="{783CA2E9-18C8-CC95-8456-7EC57179E7AB}"/>
              </a:ext>
            </a:extLst>
          </p:cNvPr>
          <p:cNvSpPr>
            <a:spLocks noChangeArrowheads="1"/>
          </p:cNvSpPr>
          <p:nvPr/>
        </p:nvSpPr>
        <p:spPr bwMode="auto">
          <a:xfrm>
            <a:off x="5832410" y="973510"/>
            <a:ext cx="5896170" cy="308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tabLst/>
            </a:pPr>
            <a:endParaRPr lang="en-US" altLang="en-US" b="1" dirty="0">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Personal Care (6.52K products)</a:t>
            </a:r>
            <a:r>
              <a:rPr kumimoji="0" lang="en-US" altLang="en-US" sz="1800" b="0" i="0" u="none" strike="noStrike" cap="none" normalizeH="0" baseline="0" dirty="0">
                <a:ln>
                  <a:noFill/>
                </a:ln>
                <a:solidFill>
                  <a:schemeClr val="tx1"/>
                </a:solidFill>
                <a:effectLst/>
                <a:latin typeface="Arial" panose="020B0604020202020204" pitchFamily="34" charset="0"/>
              </a:rPr>
              <a:t> is the largest department, accounting for the highest share of products in the catalog.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Snacks (6.22K)</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Pantry (5.33K)</a:t>
            </a:r>
            <a:r>
              <a:rPr kumimoji="0" lang="en-US" altLang="en-US" sz="1800" b="0" i="0" u="none" strike="noStrike" cap="none" normalizeH="0" baseline="0" dirty="0">
                <a:ln>
                  <a:noFill/>
                </a:ln>
                <a:solidFill>
                  <a:schemeClr val="tx1"/>
                </a:solidFill>
                <a:effectLst/>
                <a:latin typeface="Arial" panose="020B0604020202020204" pitchFamily="34" charset="0"/>
              </a:rPr>
              <a:t> are the next largest departments, indicating extensive product variety in everyday grocery categories. </a:t>
            </a:r>
          </a:p>
        </p:txBody>
      </p:sp>
      <p:sp>
        <p:nvSpPr>
          <p:cNvPr id="10" name="TextBox 9">
            <a:extLst>
              <a:ext uri="{FF2B5EF4-FFF2-40B4-BE49-F238E27FC236}">
                <a16:creationId xmlns:a16="http://schemas.microsoft.com/office/drawing/2014/main" id="{36768F45-4088-9AD7-FE17-E82513B9DF0D}"/>
              </a:ext>
            </a:extLst>
          </p:cNvPr>
          <p:cNvSpPr txBox="1"/>
          <p:nvPr/>
        </p:nvSpPr>
        <p:spPr>
          <a:xfrm>
            <a:off x="149289" y="4061535"/>
            <a:ext cx="11653935" cy="2542876"/>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Beverages (4.32K)</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Frozen (3.98K)</a:t>
            </a:r>
            <a:r>
              <a:rPr kumimoji="0" lang="en-US" altLang="en-US" sz="1800" b="0" i="0" u="none" strike="noStrike" cap="none" normalizeH="0" baseline="0" dirty="0">
                <a:ln>
                  <a:noFill/>
                </a:ln>
                <a:solidFill>
                  <a:schemeClr val="tx1"/>
                </a:solidFill>
                <a:effectLst/>
                <a:latin typeface="Arial" panose="020B0604020202020204" pitchFamily="34" charset="0"/>
              </a:rPr>
              <a:t> also contribute significantly, highlighting strong representation of convenience and ready-to-consume products.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Departments such as </a:t>
            </a:r>
            <a:r>
              <a:rPr kumimoji="0" lang="en-US" altLang="en-US" sz="1800" b="1" i="0" u="none" strike="noStrike" cap="none" normalizeH="0" baseline="0" dirty="0">
                <a:ln>
                  <a:noFill/>
                </a:ln>
                <a:solidFill>
                  <a:schemeClr val="tx1"/>
                </a:solidFill>
                <a:effectLst/>
                <a:latin typeface="Arial" panose="020B0604020202020204" pitchFamily="34" charset="0"/>
              </a:rPr>
              <a:t>Bulk</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Other</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Meat Seafood</a:t>
            </a:r>
            <a:r>
              <a:rPr kumimoji="0" lang="en-US" altLang="en-US" sz="1800" b="0" i="0" u="none" strike="noStrike" cap="none" normalizeH="0" baseline="0" dirty="0">
                <a:ln>
                  <a:noFill/>
                </a:ln>
                <a:solidFill>
                  <a:schemeClr val="tx1"/>
                </a:solidFill>
                <a:effectLst/>
                <a:latin typeface="Arial" panose="020B0604020202020204" pitchFamily="34" charset="0"/>
              </a:rPr>
              <a:t> contain comparatively fewer products, suggesting a more specialized or limited product assortment.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product distribution is uneven across departments, with a few major departments contributing a substantial portion of the overall product catalog. </a:t>
            </a:r>
            <a:endParaRPr lang="en-US" dirty="0"/>
          </a:p>
        </p:txBody>
      </p:sp>
    </p:spTree>
    <p:extLst>
      <p:ext uri="{BB962C8B-B14F-4D97-AF65-F5344CB8AC3E}">
        <p14:creationId xmlns:p14="http://schemas.microsoft.com/office/powerpoint/2010/main" val="28814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E961917-28AE-6FA1-23FA-808EB8C2659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905" t="5847" r="2212" b="8227"/>
          <a:stretch/>
        </p:blipFill>
        <p:spPr>
          <a:xfrm>
            <a:off x="93305" y="867748"/>
            <a:ext cx="6811347" cy="2920482"/>
          </a:xfrm>
        </p:spPr>
      </p:pic>
      <p:sp>
        <p:nvSpPr>
          <p:cNvPr id="4" name="Title 1">
            <a:extLst>
              <a:ext uri="{FF2B5EF4-FFF2-40B4-BE49-F238E27FC236}">
                <a16:creationId xmlns:a16="http://schemas.microsoft.com/office/drawing/2014/main" id="{3A6D7BAA-28C0-3C8C-D41D-B3D3D14A53A0}"/>
              </a:ext>
            </a:extLst>
          </p:cNvPr>
          <p:cNvSpPr txBox="1">
            <a:spLocks/>
          </p:cNvSpPr>
          <p:nvPr/>
        </p:nvSpPr>
        <p:spPr>
          <a:xfrm>
            <a:off x="-27992"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Distribution Reorder Rate by Products</a:t>
            </a:r>
          </a:p>
        </p:txBody>
      </p:sp>
      <p:sp>
        <p:nvSpPr>
          <p:cNvPr id="8" name="TextBox 7">
            <a:extLst>
              <a:ext uri="{FF2B5EF4-FFF2-40B4-BE49-F238E27FC236}">
                <a16:creationId xmlns:a16="http://schemas.microsoft.com/office/drawing/2014/main" id="{F31FB532-6E07-95E1-3D46-9761218E238F}"/>
              </a:ext>
            </a:extLst>
          </p:cNvPr>
          <p:cNvSpPr txBox="1"/>
          <p:nvPr/>
        </p:nvSpPr>
        <p:spPr>
          <a:xfrm>
            <a:off x="7035282" y="867748"/>
            <a:ext cx="4836365" cy="3099375"/>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INSIGHTS</a:t>
            </a:r>
          </a:p>
          <a:p>
            <a:pPr>
              <a:buFont typeface="Arial" panose="020B0604020202020204" pitchFamily="34" charset="0"/>
              <a:buChar char="•"/>
            </a:pPr>
            <a:endParaRPr lang="en-US" dirty="0"/>
          </a:p>
          <a:p>
            <a:pPr marL="285750" indent="-285750" algn="just">
              <a:lnSpc>
                <a:spcPct val="150000"/>
              </a:lnSpc>
              <a:buFont typeface="Wingdings" panose="05000000000000000000" pitchFamily="2" charset="2"/>
              <a:buChar char="q"/>
            </a:pPr>
            <a:r>
              <a:rPr lang="en-US" dirty="0"/>
              <a:t>All displayed products have a </a:t>
            </a:r>
            <a:r>
              <a:rPr lang="en-US" b="1" dirty="0"/>
              <a:t>100% reorder rate</a:t>
            </a:r>
            <a:r>
              <a:rPr lang="en-US" dirty="0"/>
              <a:t>, indicating exceptionally high customer loyalty. </a:t>
            </a:r>
          </a:p>
          <a:p>
            <a:pPr marL="285750" indent="-285750" algn="just">
              <a:lnSpc>
                <a:spcPct val="150000"/>
              </a:lnSpc>
              <a:buFont typeface="Wingdings" panose="05000000000000000000" pitchFamily="2" charset="2"/>
              <a:buChar char="q"/>
            </a:pPr>
            <a:r>
              <a:rPr lang="en-US" dirty="0"/>
              <a:t>These products are consistently repurchased, suggesting they are essential or frequently consumed items. </a:t>
            </a:r>
          </a:p>
        </p:txBody>
      </p:sp>
      <p:sp>
        <p:nvSpPr>
          <p:cNvPr id="10" name="TextBox 9">
            <a:extLst>
              <a:ext uri="{FF2B5EF4-FFF2-40B4-BE49-F238E27FC236}">
                <a16:creationId xmlns:a16="http://schemas.microsoft.com/office/drawing/2014/main" id="{BB336661-6378-23CE-EA42-B7F16C15CB82}"/>
              </a:ext>
            </a:extLst>
          </p:cNvPr>
          <p:cNvSpPr txBox="1"/>
          <p:nvPr/>
        </p:nvSpPr>
        <p:spPr>
          <a:xfrm>
            <a:off x="320353" y="3879444"/>
            <a:ext cx="11551294" cy="1714380"/>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dirty="0"/>
              <a:t>The products have strong customer retention and stable demand. </a:t>
            </a:r>
          </a:p>
          <a:p>
            <a:pPr marL="285750" indent="-285750" algn="just">
              <a:lnSpc>
                <a:spcPct val="150000"/>
              </a:lnSpc>
              <a:buFont typeface="Wingdings" panose="05000000000000000000" pitchFamily="2" charset="2"/>
              <a:buChar char="q"/>
            </a:pPr>
            <a:r>
              <a:rPr lang="en-US" dirty="0"/>
              <a:t>Maintaining adequate inventory for these products is critical to avoid stock-outs. </a:t>
            </a:r>
          </a:p>
          <a:p>
            <a:pPr marL="285750" indent="-285750" algn="just">
              <a:lnSpc>
                <a:spcPct val="150000"/>
              </a:lnSpc>
              <a:buFont typeface="Wingdings" panose="05000000000000000000" pitchFamily="2" charset="2"/>
              <a:buChar char="q"/>
            </a:pPr>
            <a:r>
              <a:rPr lang="en-US" dirty="0"/>
              <a:t>These products can be prioritized for promotional bundles and cross-selling due to their proven repeat purchase behavior. </a:t>
            </a:r>
          </a:p>
        </p:txBody>
      </p:sp>
    </p:spTree>
    <p:extLst>
      <p:ext uri="{BB962C8B-B14F-4D97-AF65-F5344CB8AC3E}">
        <p14:creationId xmlns:p14="http://schemas.microsoft.com/office/powerpoint/2010/main" val="1656881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0F70D91-CCC2-E2F2-0E3C-FDB205F402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5825" y="1051366"/>
            <a:ext cx="3221106" cy="1710883"/>
          </a:xfrm>
        </p:spPr>
      </p:pic>
      <p:sp>
        <p:nvSpPr>
          <p:cNvPr id="4" name="Title 1">
            <a:extLst>
              <a:ext uri="{FF2B5EF4-FFF2-40B4-BE49-F238E27FC236}">
                <a16:creationId xmlns:a16="http://schemas.microsoft.com/office/drawing/2014/main" id="{1EEF35AE-32BB-3A16-268E-20A19B31AA4D}"/>
              </a:ext>
            </a:extLst>
          </p:cNvPr>
          <p:cNvSpPr txBox="1">
            <a:spLocks/>
          </p:cNvSpPr>
          <p:nvPr/>
        </p:nvSpPr>
        <p:spPr>
          <a:xfrm>
            <a:off x="-27992"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2800" b="1" dirty="0">
                <a:latin typeface="Bahnschrift" panose="020B0502040204020203" pitchFamily="34" charset="0"/>
                <a:ea typeface="Book Antiqua" panose="02040602050305030304" pitchFamily="18" charset="0"/>
                <a:cs typeface="Book Antiqua" panose="02040602050305030304" pitchFamily="18" charset="0"/>
              </a:rPr>
              <a:t>U</a:t>
            </a:r>
            <a:r>
              <a:rPr lang="en-IN" sz="2800" b="1" dirty="0">
                <a:effectLst/>
                <a:latin typeface="Bahnschrift" panose="020B0502040204020203" pitchFamily="34" charset="0"/>
                <a:ea typeface="Book Antiqua" panose="02040602050305030304" pitchFamily="18" charset="0"/>
                <a:cs typeface="Book Antiqua" panose="02040602050305030304" pitchFamily="18" charset="0"/>
              </a:rPr>
              <a:t>nique Users </a:t>
            </a:r>
            <a:endParaRPr lang="en-US" sz="2800" b="1" dirty="0">
              <a:latin typeface="Bahnschrift" panose="020B0502040204020203" pitchFamily="34" charset="0"/>
            </a:endParaRPr>
          </a:p>
        </p:txBody>
      </p:sp>
      <p:sp>
        <p:nvSpPr>
          <p:cNvPr id="7" name="Rectangle 1">
            <a:extLst>
              <a:ext uri="{FF2B5EF4-FFF2-40B4-BE49-F238E27FC236}">
                <a16:creationId xmlns:a16="http://schemas.microsoft.com/office/drawing/2014/main" id="{FA32AD95-E30C-5E43-8327-DA7F987404C9}"/>
              </a:ext>
            </a:extLst>
          </p:cNvPr>
          <p:cNvSpPr>
            <a:spLocks noChangeArrowheads="1"/>
          </p:cNvSpPr>
          <p:nvPr/>
        </p:nvSpPr>
        <p:spPr bwMode="auto">
          <a:xfrm>
            <a:off x="3750906" y="778293"/>
            <a:ext cx="7585788" cy="2257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business has reached </a:t>
            </a:r>
            <a:r>
              <a:rPr kumimoji="0" lang="en-US" altLang="en-US" sz="1800" b="1" i="0" u="none" strike="noStrike" cap="none" normalizeH="0" baseline="0" dirty="0">
                <a:ln>
                  <a:noFill/>
                </a:ln>
                <a:solidFill>
                  <a:schemeClr val="tx1"/>
                </a:solidFill>
                <a:effectLst/>
                <a:latin typeface="Arial" panose="020B0604020202020204" pitchFamily="34" charset="0"/>
              </a:rPr>
              <a:t>63,100 unique customers</a:t>
            </a:r>
            <a:r>
              <a:rPr kumimoji="0" lang="en-US" altLang="en-US" sz="1800" b="0" i="0" u="none" strike="noStrike" cap="none" normalizeH="0" baseline="0" dirty="0">
                <a:ln>
                  <a:noFill/>
                </a:ln>
                <a:solidFill>
                  <a:schemeClr val="tx1"/>
                </a:solidFill>
                <a:effectLst/>
                <a:latin typeface="Arial" panose="020B0604020202020204" pitchFamily="34" charset="0"/>
              </a:rPr>
              <a:t>, reflecting a broad customer base.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A large customer base increases opportunities for repeat purchases and customer retention. </a:t>
            </a:r>
          </a:p>
        </p:txBody>
      </p:sp>
      <p:sp>
        <p:nvSpPr>
          <p:cNvPr id="9" name="TextBox 8">
            <a:extLst>
              <a:ext uri="{FF2B5EF4-FFF2-40B4-BE49-F238E27FC236}">
                <a16:creationId xmlns:a16="http://schemas.microsoft.com/office/drawing/2014/main" id="{9E021DDE-0686-1F28-7DC3-24DAED59E2C2}"/>
              </a:ext>
            </a:extLst>
          </p:cNvPr>
          <p:cNvSpPr txBox="1"/>
          <p:nvPr/>
        </p:nvSpPr>
        <p:spPr>
          <a:xfrm>
            <a:off x="445824" y="3026215"/>
            <a:ext cx="10890869" cy="872034"/>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data represents diverse customer purchasing behavior, making the analysis more reliable.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Even a small increase in customer retention can significantly impact overall sales and revenue. </a:t>
            </a:r>
          </a:p>
        </p:txBody>
      </p:sp>
    </p:spTree>
    <p:extLst>
      <p:ext uri="{BB962C8B-B14F-4D97-AF65-F5344CB8AC3E}">
        <p14:creationId xmlns:p14="http://schemas.microsoft.com/office/powerpoint/2010/main" val="2274474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A554D86-B484-A73D-5271-8C1DD62113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678" y="940570"/>
            <a:ext cx="4008781" cy="1659974"/>
          </a:xfrm>
        </p:spPr>
      </p:pic>
      <p:sp>
        <p:nvSpPr>
          <p:cNvPr id="4" name="Title 1">
            <a:extLst>
              <a:ext uri="{FF2B5EF4-FFF2-40B4-BE49-F238E27FC236}">
                <a16:creationId xmlns:a16="http://schemas.microsoft.com/office/drawing/2014/main" id="{0D9F7F27-0039-E4F2-779A-8C572206904A}"/>
              </a:ext>
            </a:extLst>
          </p:cNvPr>
          <p:cNvSpPr txBox="1">
            <a:spLocks/>
          </p:cNvSpPr>
          <p:nvPr/>
        </p:nvSpPr>
        <p:spPr>
          <a:xfrm>
            <a:off x="0"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2800" b="1" dirty="0">
                <a:latin typeface="Bahnschrift" panose="020B0502040204020203" pitchFamily="34" charset="0"/>
                <a:ea typeface="Book Antiqua" panose="02040602050305030304" pitchFamily="18" charset="0"/>
                <a:cs typeface="Book Antiqua" panose="02040602050305030304" pitchFamily="18" charset="0"/>
              </a:rPr>
              <a:t>A</a:t>
            </a:r>
            <a:r>
              <a:rPr lang="en-IN" sz="2800" b="1" dirty="0">
                <a:effectLst/>
                <a:latin typeface="Bahnschrift" panose="020B0502040204020203" pitchFamily="34" charset="0"/>
                <a:ea typeface="Book Antiqua" panose="02040602050305030304" pitchFamily="18" charset="0"/>
                <a:cs typeface="Book Antiqua" panose="02040602050305030304" pitchFamily="18" charset="0"/>
              </a:rPr>
              <a:t>verage number of days between orders </a:t>
            </a:r>
            <a:endParaRPr lang="en-US" sz="2800" b="1" dirty="0">
              <a:latin typeface="Bahnschrift" panose="020B0502040204020203" pitchFamily="34" charset="0"/>
            </a:endParaRPr>
          </a:p>
        </p:txBody>
      </p:sp>
      <p:sp>
        <p:nvSpPr>
          <p:cNvPr id="8" name="TextBox 7">
            <a:extLst>
              <a:ext uri="{FF2B5EF4-FFF2-40B4-BE49-F238E27FC236}">
                <a16:creationId xmlns:a16="http://schemas.microsoft.com/office/drawing/2014/main" id="{3CE1BF24-AE77-79D6-E41A-0EABA73F33DD}"/>
              </a:ext>
            </a:extLst>
          </p:cNvPr>
          <p:cNvSpPr txBox="1"/>
          <p:nvPr/>
        </p:nvSpPr>
        <p:spPr>
          <a:xfrm>
            <a:off x="4030824" y="1051866"/>
            <a:ext cx="7679093" cy="143738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INSIGHTS</a:t>
            </a:r>
          </a:p>
          <a:p>
            <a:endParaRPr lang="en-US" dirty="0"/>
          </a:p>
          <a:p>
            <a:pPr marL="285750" indent="-285750">
              <a:lnSpc>
                <a:spcPct val="150000"/>
              </a:lnSpc>
              <a:buFont typeface="Wingdings" panose="05000000000000000000" pitchFamily="2" charset="2"/>
              <a:buChar char="q"/>
            </a:pPr>
            <a:r>
              <a:rPr lang="en-US" dirty="0"/>
              <a:t>Customers place repeat orders every </a:t>
            </a:r>
            <a:r>
              <a:rPr lang="en-US" b="1" dirty="0"/>
              <a:t>11 days on average</a:t>
            </a:r>
            <a:r>
              <a:rPr lang="en-US" dirty="0"/>
              <a:t>, indicating frequent purchasing behavior. </a:t>
            </a:r>
          </a:p>
        </p:txBody>
      </p:sp>
      <p:sp>
        <p:nvSpPr>
          <p:cNvPr id="10" name="TextBox 9">
            <a:extLst>
              <a:ext uri="{FF2B5EF4-FFF2-40B4-BE49-F238E27FC236}">
                <a16:creationId xmlns:a16="http://schemas.microsoft.com/office/drawing/2014/main" id="{7065CE32-0309-6D54-51F3-F32CB4507245}"/>
              </a:ext>
            </a:extLst>
          </p:cNvPr>
          <p:cNvSpPr txBox="1"/>
          <p:nvPr/>
        </p:nvSpPr>
        <p:spPr>
          <a:xfrm>
            <a:off x="237931" y="2489247"/>
            <a:ext cx="11471986" cy="2129878"/>
          </a:xfrm>
          <a:prstGeom prst="rect">
            <a:avLst/>
          </a:prstGeom>
          <a:noFill/>
        </p:spPr>
        <p:txBody>
          <a:bodyPr wrap="square">
            <a:spAutoFit/>
          </a:bodyPr>
          <a:lstStyle/>
          <a:p>
            <a:pPr marL="285750" indent="-285750">
              <a:lnSpc>
                <a:spcPct val="150000"/>
              </a:lnSpc>
              <a:buFont typeface="Wingdings" panose="05000000000000000000" pitchFamily="2" charset="2"/>
              <a:buChar char="q"/>
            </a:pPr>
            <a:r>
              <a:rPr lang="en-US" dirty="0"/>
              <a:t>The short reorder cycle reflects strong customer engagement and product demand. </a:t>
            </a:r>
          </a:p>
          <a:p>
            <a:pPr marL="285750" indent="-285750">
              <a:lnSpc>
                <a:spcPct val="150000"/>
              </a:lnSpc>
              <a:buFont typeface="Wingdings" panose="05000000000000000000" pitchFamily="2" charset="2"/>
              <a:buChar char="q"/>
            </a:pPr>
            <a:r>
              <a:rPr lang="en-US" dirty="0"/>
              <a:t>Inventory replenishment should align with this purchase cycle to ensure product availability. </a:t>
            </a:r>
          </a:p>
          <a:p>
            <a:pPr marL="285750" indent="-285750">
              <a:lnSpc>
                <a:spcPct val="150000"/>
              </a:lnSpc>
              <a:buFont typeface="Wingdings" panose="05000000000000000000" pitchFamily="2" charset="2"/>
              <a:buChar char="q"/>
            </a:pPr>
            <a:r>
              <a:rPr lang="en-US" dirty="0"/>
              <a:t>Marketing campaigns, reminders, or personalized offers can be scheduled around the 10–11 day mark to encourage repeat purchases. </a:t>
            </a:r>
          </a:p>
          <a:p>
            <a:pPr marL="285750" indent="-285750">
              <a:lnSpc>
                <a:spcPct val="150000"/>
              </a:lnSpc>
              <a:buFont typeface="Wingdings" panose="05000000000000000000" pitchFamily="2" charset="2"/>
              <a:buChar char="q"/>
            </a:pPr>
            <a:r>
              <a:rPr lang="en-US" dirty="0"/>
              <a:t>The consistent purchase interval helps improve demand forecasting and inventory planning. </a:t>
            </a:r>
          </a:p>
        </p:txBody>
      </p:sp>
    </p:spTree>
    <p:extLst>
      <p:ext uri="{BB962C8B-B14F-4D97-AF65-F5344CB8AC3E}">
        <p14:creationId xmlns:p14="http://schemas.microsoft.com/office/powerpoint/2010/main" val="3837204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635A4D5-7B34-3146-8357-C9A9A1CAA17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6938" t="4998" r="4941" b="6160"/>
          <a:stretch/>
        </p:blipFill>
        <p:spPr>
          <a:xfrm>
            <a:off x="177282" y="923731"/>
            <a:ext cx="4889240" cy="3258047"/>
          </a:xfrm>
        </p:spPr>
      </p:pic>
      <p:sp>
        <p:nvSpPr>
          <p:cNvPr id="4" name="Title 1">
            <a:extLst>
              <a:ext uri="{FF2B5EF4-FFF2-40B4-BE49-F238E27FC236}">
                <a16:creationId xmlns:a16="http://schemas.microsoft.com/office/drawing/2014/main" id="{6D9D7E6F-A03A-C328-BAF1-2209E27022E6}"/>
              </a:ext>
            </a:extLst>
          </p:cNvPr>
          <p:cNvSpPr txBox="1">
            <a:spLocks/>
          </p:cNvSpPr>
          <p:nvPr/>
        </p:nvSpPr>
        <p:spPr>
          <a:xfrm>
            <a:off x="-27992"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Peak Hour of Order Placement during the Day</a:t>
            </a:r>
          </a:p>
        </p:txBody>
      </p:sp>
      <p:sp>
        <p:nvSpPr>
          <p:cNvPr id="7" name="Rectangle 1">
            <a:extLst>
              <a:ext uri="{FF2B5EF4-FFF2-40B4-BE49-F238E27FC236}">
                <a16:creationId xmlns:a16="http://schemas.microsoft.com/office/drawing/2014/main" id="{1C9128C2-0720-1416-A524-6C9B167300CE}"/>
              </a:ext>
            </a:extLst>
          </p:cNvPr>
          <p:cNvSpPr>
            <a:spLocks noChangeArrowheads="1"/>
          </p:cNvSpPr>
          <p:nvPr/>
        </p:nvSpPr>
        <p:spPr bwMode="auto">
          <a:xfrm>
            <a:off x="5287347" y="787400"/>
            <a:ext cx="6727371" cy="3503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10:00 AM is the busiest hour</a:t>
            </a:r>
            <a:r>
              <a:rPr kumimoji="0" lang="en-US" altLang="en-US" sz="1800" b="0" i="0" u="none" strike="noStrike" cap="none" normalizeH="0" baseline="0" dirty="0">
                <a:ln>
                  <a:noFill/>
                </a:ln>
                <a:solidFill>
                  <a:schemeClr val="tx1"/>
                </a:solidFill>
                <a:effectLst/>
                <a:latin typeface="Arial" panose="020B0604020202020204" pitchFamily="34" charset="0"/>
              </a:rPr>
              <a:t> with approximately </a:t>
            </a:r>
            <a:r>
              <a:rPr kumimoji="0" lang="en-US" altLang="en-US" sz="1800" b="1" i="0" u="none" strike="noStrike" cap="none" normalizeH="0" baseline="0" dirty="0">
                <a:ln>
                  <a:noFill/>
                </a:ln>
                <a:solidFill>
                  <a:schemeClr val="tx1"/>
                </a:solidFill>
                <a:effectLst/>
                <a:latin typeface="Arial" panose="020B0604020202020204" pitchFamily="34" charset="0"/>
              </a:rPr>
              <a:t>88K orders</a:t>
            </a:r>
            <a:r>
              <a:rPr kumimoji="0" lang="en-US" altLang="en-US" sz="1800" b="0" i="0" u="none" strike="noStrike" cap="none" normalizeH="0" baseline="0" dirty="0">
                <a:ln>
                  <a:noFill/>
                </a:ln>
                <a:solidFill>
                  <a:schemeClr val="tx1"/>
                </a:solidFill>
                <a:effectLst/>
                <a:latin typeface="Arial" panose="020B0604020202020204" pitchFamily="34" charset="0"/>
              </a:rPr>
              <a:t>, making it the peak ordering time.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Order volume remains consistently high between </a:t>
            </a:r>
            <a:r>
              <a:rPr kumimoji="0" lang="en-US" altLang="en-US" sz="1800" b="1" i="0" u="none" strike="noStrike" cap="none" normalizeH="0" baseline="0" dirty="0">
                <a:ln>
                  <a:noFill/>
                </a:ln>
                <a:solidFill>
                  <a:schemeClr val="tx1"/>
                </a:solidFill>
                <a:effectLst/>
                <a:latin typeface="Arial" panose="020B0604020202020204" pitchFamily="34" charset="0"/>
              </a:rPr>
              <a:t>10 AM and 3 PM (84K–88K orders)</a:t>
            </a:r>
            <a:r>
              <a:rPr kumimoji="0" lang="en-US" altLang="en-US" sz="1800" b="0" i="0" u="none" strike="noStrike" cap="none" normalizeH="0" baseline="0" dirty="0">
                <a:ln>
                  <a:noFill/>
                </a:ln>
                <a:solidFill>
                  <a:schemeClr val="tx1"/>
                </a:solidFill>
                <a:effectLst/>
                <a:latin typeface="Arial" panose="020B0604020202020204" pitchFamily="34" charset="0"/>
              </a:rPr>
              <a:t>, indicating strong customer activity during midday.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After </a:t>
            </a:r>
            <a:r>
              <a:rPr kumimoji="0" lang="en-US" altLang="en-US" sz="1800" b="1" i="0" u="none" strike="noStrike" cap="none" normalizeH="0" baseline="0" dirty="0">
                <a:ln>
                  <a:noFill/>
                </a:ln>
                <a:solidFill>
                  <a:schemeClr val="tx1"/>
                </a:solidFill>
                <a:effectLst/>
                <a:latin typeface="Arial" panose="020B0604020202020204" pitchFamily="34" charset="0"/>
              </a:rPr>
              <a:t>4 PM</a:t>
            </a:r>
            <a:r>
              <a:rPr kumimoji="0" lang="en-US" altLang="en-US" sz="1800" b="0" i="0" u="none" strike="noStrike" cap="none" normalizeH="0" baseline="0" dirty="0">
                <a:ln>
                  <a:noFill/>
                </a:ln>
                <a:solidFill>
                  <a:schemeClr val="tx1"/>
                </a:solidFill>
                <a:effectLst/>
                <a:latin typeface="Arial" panose="020B0604020202020204" pitchFamily="34" charset="0"/>
              </a:rPr>
              <a:t>, order volume begins to decline, with a sharper drop after </a:t>
            </a:r>
            <a:r>
              <a:rPr kumimoji="0" lang="en-US" altLang="en-US" sz="1800" b="1" i="0" u="none" strike="noStrike" cap="none" normalizeH="0" baseline="0" dirty="0">
                <a:ln>
                  <a:noFill/>
                </a:ln>
                <a:solidFill>
                  <a:schemeClr val="tx1"/>
                </a:solidFill>
                <a:effectLst/>
                <a:latin typeface="Arial" panose="020B0604020202020204" pitchFamily="34" charset="0"/>
              </a:rPr>
              <a:t>5 PM</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9" name="TextBox 8">
            <a:extLst>
              <a:ext uri="{FF2B5EF4-FFF2-40B4-BE49-F238E27FC236}">
                <a16:creationId xmlns:a16="http://schemas.microsoft.com/office/drawing/2014/main" id="{762321ED-ADB2-44DB-F5C7-5E88DADBC957}"/>
              </a:ext>
            </a:extLst>
          </p:cNvPr>
          <p:cNvSpPr txBox="1"/>
          <p:nvPr/>
        </p:nvSpPr>
        <p:spPr>
          <a:xfrm>
            <a:off x="177282" y="4181778"/>
            <a:ext cx="11837436" cy="2118529"/>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6:00 PM records the lowest order volume (56K)</a:t>
            </a:r>
            <a:r>
              <a:rPr kumimoji="0" lang="en-US" altLang="en-US" sz="1800" b="0" i="0" u="none" strike="noStrike" cap="none" normalizeH="0" baseline="0" dirty="0">
                <a:ln>
                  <a:noFill/>
                </a:ln>
                <a:solidFill>
                  <a:schemeClr val="tx1"/>
                </a:solidFill>
                <a:effectLst/>
                <a:latin typeface="Arial" panose="020B0604020202020204" pitchFamily="34" charset="0"/>
              </a:rPr>
              <a:t> among the displayed hours, suggesting reduced customer activity in the evening.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business should ensure </a:t>
            </a:r>
            <a:r>
              <a:rPr kumimoji="0" lang="en-US" altLang="en-US" sz="1800" b="1" i="0" u="none" strike="noStrike" cap="none" normalizeH="0" baseline="0" dirty="0">
                <a:ln>
                  <a:noFill/>
                </a:ln>
                <a:solidFill>
                  <a:schemeClr val="tx1"/>
                </a:solidFill>
                <a:effectLst/>
                <a:latin typeface="Arial" panose="020B0604020202020204" pitchFamily="34" charset="0"/>
              </a:rPr>
              <a:t>maximum inventory availability, staff allocation, and delivery capacity</a:t>
            </a:r>
            <a:r>
              <a:rPr kumimoji="0" lang="en-US" altLang="en-US" sz="1800" b="0" i="0" u="none" strike="noStrike" cap="none" normalizeH="0" baseline="0" dirty="0">
                <a:ln>
                  <a:noFill/>
                </a:ln>
                <a:solidFill>
                  <a:schemeClr val="tx1"/>
                </a:solidFill>
                <a:effectLst/>
                <a:latin typeface="Arial" panose="020B0604020202020204" pitchFamily="34" charset="0"/>
              </a:rPr>
              <a:t> during the 10 AM–3 PM window.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Promotional campaigns can be scheduled during off-peak hours (after 5 PM) to improve order distribution. </a:t>
            </a:r>
          </a:p>
        </p:txBody>
      </p:sp>
    </p:spTree>
    <p:extLst>
      <p:ext uri="{BB962C8B-B14F-4D97-AF65-F5344CB8AC3E}">
        <p14:creationId xmlns:p14="http://schemas.microsoft.com/office/powerpoint/2010/main" val="1242955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9DC2A78-3C6E-1704-56E8-75706C6EDAB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4136" t="2690" r="6115" b="5160"/>
          <a:stretch/>
        </p:blipFill>
        <p:spPr>
          <a:xfrm>
            <a:off x="0" y="787400"/>
            <a:ext cx="3931186" cy="3722914"/>
          </a:xfrm>
        </p:spPr>
      </p:pic>
      <p:sp>
        <p:nvSpPr>
          <p:cNvPr id="4" name="Title 1">
            <a:extLst>
              <a:ext uri="{FF2B5EF4-FFF2-40B4-BE49-F238E27FC236}">
                <a16:creationId xmlns:a16="http://schemas.microsoft.com/office/drawing/2014/main" id="{2B2E9610-C794-1FBF-BE51-336CAF4FFC24}"/>
              </a:ext>
            </a:extLst>
          </p:cNvPr>
          <p:cNvSpPr txBox="1">
            <a:spLocks/>
          </p:cNvSpPr>
          <p:nvPr/>
        </p:nvSpPr>
        <p:spPr>
          <a:xfrm>
            <a:off x="-27992"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Distribution of Orders by Day of the Week</a:t>
            </a:r>
          </a:p>
        </p:txBody>
      </p:sp>
      <p:sp>
        <p:nvSpPr>
          <p:cNvPr id="8" name="TextBox 7">
            <a:extLst>
              <a:ext uri="{FF2B5EF4-FFF2-40B4-BE49-F238E27FC236}">
                <a16:creationId xmlns:a16="http://schemas.microsoft.com/office/drawing/2014/main" id="{0B1454E6-A7EB-EB9B-8A2A-4814E3686D98}"/>
              </a:ext>
            </a:extLst>
          </p:cNvPr>
          <p:cNvSpPr txBox="1"/>
          <p:nvPr/>
        </p:nvSpPr>
        <p:spPr>
          <a:xfrm>
            <a:off x="3858207" y="850137"/>
            <a:ext cx="7917025" cy="3514873"/>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INSIGHTS</a:t>
            </a:r>
          </a:p>
          <a:p>
            <a:pPr>
              <a:buFont typeface="Arial" panose="020B0604020202020204" pitchFamily="34" charset="0"/>
              <a:buChar char="•"/>
            </a:pPr>
            <a:endParaRPr lang="en-US" b="1" dirty="0"/>
          </a:p>
          <a:p>
            <a:pPr marL="285750" indent="-285750" algn="just">
              <a:lnSpc>
                <a:spcPct val="150000"/>
              </a:lnSpc>
              <a:buFont typeface="Wingdings" panose="05000000000000000000" pitchFamily="2" charset="2"/>
              <a:buChar char="q"/>
            </a:pPr>
            <a:r>
              <a:rPr lang="en-US" b="1" dirty="0"/>
              <a:t>Sunday recorded the highest number of orders (183,939)</a:t>
            </a:r>
            <a:r>
              <a:rPr lang="en-US" dirty="0"/>
              <a:t>, making it the busiest day of the week. </a:t>
            </a:r>
          </a:p>
          <a:p>
            <a:pPr marL="285750" indent="-285750" algn="just">
              <a:lnSpc>
                <a:spcPct val="150000"/>
              </a:lnSpc>
              <a:buFont typeface="Wingdings" panose="05000000000000000000" pitchFamily="2" charset="2"/>
              <a:buChar char="q"/>
            </a:pPr>
            <a:r>
              <a:rPr lang="en-US" b="1" dirty="0"/>
              <a:t>Monday follows closely (180,025 orders)</a:t>
            </a:r>
            <a:r>
              <a:rPr lang="en-US" dirty="0"/>
              <a:t>, indicating continued high customer demand after the weekend. </a:t>
            </a:r>
          </a:p>
          <a:p>
            <a:pPr marL="285750" indent="-285750" algn="just">
              <a:lnSpc>
                <a:spcPct val="150000"/>
              </a:lnSpc>
              <a:buFont typeface="Wingdings" panose="05000000000000000000" pitchFamily="2" charset="2"/>
              <a:buChar char="q"/>
            </a:pPr>
            <a:r>
              <a:rPr lang="en-US" b="1" dirty="0"/>
              <a:t>Thursday has the lowest order volume (130,367)</a:t>
            </a:r>
            <a:r>
              <a:rPr lang="en-US" dirty="0"/>
              <a:t> among all weekdays. </a:t>
            </a:r>
          </a:p>
          <a:p>
            <a:pPr marL="285750" indent="-285750" algn="just">
              <a:lnSpc>
                <a:spcPct val="150000"/>
              </a:lnSpc>
              <a:buFont typeface="Wingdings" panose="05000000000000000000" pitchFamily="2" charset="2"/>
              <a:buChar char="q"/>
            </a:pPr>
            <a:r>
              <a:rPr lang="en-US" dirty="0"/>
              <a:t>Total orders across the week amount to </a:t>
            </a:r>
            <a:r>
              <a:rPr lang="en-US" b="1" dirty="0"/>
              <a:t>1,048,575</a:t>
            </a:r>
            <a:r>
              <a:rPr lang="en-US" dirty="0"/>
              <a:t>, reflecting strong overall business activity. </a:t>
            </a:r>
          </a:p>
        </p:txBody>
      </p:sp>
      <p:sp>
        <p:nvSpPr>
          <p:cNvPr id="10" name="TextBox 9">
            <a:extLst>
              <a:ext uri="{FF2B5EF4-FFF2-40B4-BE49-F238E27FC236}">
                <a16:creationId xmlns:a16="http://schemas.microsoft.com/office/drawing/2014/main" id="{E1998865-8CE3-DAC9-493C-087B13344B23}"/>
              </a:ext>
            </a:extLst>
          </p:cNvPr>
          <p:cNvSpPr txBox="1"/>
          <p:nvPr/>
        </p:nvSpPr>
        <p:spPr>
          <a:xfrm>
            <a:off x="200608" y="4427747"/>
            <a:ext cx="11574624" cy="1298882"/>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dirty="0"/>
              <a:t>Weekend and the beginning of the week generate significantly higher demand than midweek. </a:t>
            </a:r>
          </a:p>
          <a:p>
            <a:pPr marL="285750" indent="-285750" algn="just">
              <a:lnSpc>
                <a:spcPct val="150000"/>
              </a:lnSpc>
              <a:buFont typeface="Wingdings" panose="05000000000000000000" pitchFamily="2" charset="2"/>
              <a:buChar char="q"/>
            </a:pPr>
            <a:r>
              <a:rPr lang="en-US" dirty="0"/>
              <a:t>Inventory and workforce planning should prioritize </a:t>
            </a:r>
            <a:r>
              <a:rPr lang="en-US" b="1" dirty="0"/>
              <a:t>Sunday and Monday</a:t>
            </a:r>
            <a:r>
              <a:rPr lang="en-US" dirty="0"/>
              <a:t>, while promotions can target </a:t>
            </a:r>
            <a:r>
              <a:rPr lang="en-US" b="1" dirty="0"/>
              <a:t>Thursday and Wednesday</a:t>
            </a:r>
            <a:r>
              <a:rPr lang="en-US" dirty="0"/>
              <a:t> to increase sales. </a:t>
            </a:r>
          </a:p>
        </p:txBody>
      </p:sp>
    </p:spTree>
    <p:extLst>
      <p:ext uri="{BB962C8B-B14F-4D97-AF65-F5344CB8AC3E}">
        <p14:creationId xmlns:p14="http://schemas.microsoft.com/office/powerpoint/2010/main" val="1479339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674196B-BC91-9603-EC74-FFEEBEDCF6D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104" t="2087" r="2597"/>
          <a:stretch/>
        </p:blipFill>
        <p:spPr>
          <a:xfrm>
            <a:off x="27992" y="787400"/>
            <a:ext cx="5327779" cy="2672526"/>
          </a:xfrm>
        </p:spPr>
      </p:pic>
      <p:sp>
        <p:nvSpPr>
          <p:cNvPr id="4" name="Title 1">
            <a:extLst>
              <a:ext uri="{FF2B5EF4-FFF2-40B4-BE49-F238E27FC236}">
                <a16:creationId xmlns:a16="http://schemas.microsoft.com/office/drawing/2014/main" id="{1A00E199-FB49-98CC-37D4-DFEC1F099341}"/>
              </a:ext>
            </a:extLst>
          </p:cNvPr>
          <p:cNvSpPr txBox="1">
            <a:spLocks/>
          </p:cNvSpPr>
          <p:nvPr/>
        </p:nvSpPr>
        <p:spPr>
          <a:xfrm>
            <a:off x="0"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Top 10 Most ordered Products</a:t>
            </a:r>
          </a:p>
        </p:txBody>
      </p:sp>
      <p:sp>
        <p:nvSpPr>
          <p:cNvPr id="7" name="Rectangle 1">
            <a:extLst>
              <a:ext uri="{FF2B5EF4-FFF2-40B4-BE49-F238E27FC236}">
                <a16:creationId xmlns:a16="http://schemas.microsoft.com/office/drawing/2014/main" id="{F325304A-2C12-335B-4C01-5BFEE39AAC11}"/>
              </a:ext>
            </a:extLst>
          </p:cNvPr>
          <p:cNvSpPr>
            <a:spLocks noChangeArrowheads="1"/>
          </p:cNvSpPr>
          <p:nvPr/>
        </p:nvSpPr>
        <p:spPr bwMode="auto">
          <a:xfrm>
            <a:off x="5355771" y="787400"/>
            <a:ext cx="6410131" cy="2672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Bananas</a:t>
            </a:r>
            <a:r>
              <a:rPr kumimoji="0" lang="en-US" altLang="en-US" sz="1800" b="0" i="0" u="none" strike="noStrike" cap="none" normalizeH="0" baseline="0" dirty="0">
                <a:ln>
                  <a:noFill/>
                </a:ln>
                <a:solidFill>
                  <a:schemeClr val="tx1"/>
                </a:solidFill>
                <a:effectLst/>
                <a:latin typeface="Arial" panose="020B0604020202020204" pitchFamily="34" charset="0"/>
              </a:rPr>
              <a:t> are the most ordered product with approximately </a:t>
            </a:r>
            <a:r>
              <a:rPr kumimoji="0" lang="en-US" altLang="en-US" sz="1800" b="1" i="0" u="none" strike="noStrike" cap="none" normalizeH="0" baseline="0" dirty="0">
                <a:ln>
                  <a:noFill/>
                </a:ln>
                <a:solidFill>
                  <a:schemeClr val="tx1"/>
                </a:solidFill>
                <a:effectLst/>
                <a:latin typeface="Arial" panose="020B0604020202020204" pitchFamily="34" charset="0"/>
              </a:rPr>
              <a:t>14.1K orders</a:t>
            </a:r>
            <a:r>
              <a:rPr kumimoji="0" lang="en-US" altLang="en-US" sz="1800" b="0" i="0" u="none" strike="noStrike" cap="none" normalizeH="0" baseline="0" dirty="0">
                <a:ln>
                  <a:noFill/>
                </a:ln>
                <a:solidFill>
                  <a:schemeClr val="tx1"/>
                </a:solidFill>
                <a:effectLst/>
                <a:latin typeface="Arial" panose="020B0604020202020204" pitchFamily="34" charset="0"/>
              </a:rPr>
              <a:t>, making them the highest-demand item.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Fresh produce dominates the top-selling products, including </a:t>
            </a:r>
            <a:r>
              <a:rPr kumimoji="0" lang="en-US" altLang="en-US" sz="1800" b="1" i="0" u="none" strike="noStrike" cap="none" normalizeH="0" baseline="0" dirty="0">
                <a:ln>
                  <a:noFill/>
                </a:ln>
                <a:solidFill>
                  <a:schemeClr val="tx1"/>
                </a:solidFill>
                <a:effectLst/>
                <a:latin typeface="Arial" panose="020B0604020202020204" pitchFamily="34" charset="0"/>
              </a:rPr>
              <a:t>Organic Strawberries, Organic Baby Spinach, Avocados, Lemons, Strawberries, and Limes</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9" name="TextBox 8">
            <a:extLst>
              <a:ext uri="{FF2B5EF4-FFF2-40B4-BE49-F238E27FC236}">
                <a16:creationId xmlns:a16="http://schemas.microsoft.com/office/drawing/2014/main" id="{E0575636-C566-A797-C7E1-52AB64F0570B}"/>
              </a:ext>
            </a:extLst>
          </p:cNvPr>
          <p:cNvSpPr txBox="1"/>
          <p:nvPr/>
        </p:nvSpPr>
        <p:spPr>
          <a:xfrm>
            <a:off x="172616" y="3334596"/>
            <a:ext cx="11593286" cy="2949525"/>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Bag of Organic Bananas</a:t>
            </a:r>
            <a:r>
              <a:rPr kumimoji="0" lang="en-US" altLang="en-US" sz="1800" b="0" i="0" u="none" strike="noStrike" cap="none" normalizeH="0" baseline="0" dirty="0">
                <a:ln>
                  <a:noFill/>
                </a:ln>
                <a:solidFill>
                  <a:schemeClr val="tx1"/>
                </a:solidFill>
                <a:effectLst/>
                <a:latin typeface="Arial" panose="020B0604020202020204" pitchFamily="34" charset="0"/>
              </a:rPr>
              <a:t> ranks second with </a:t>
            </a:r>
            <a:r>
              <a:rPr kumimoji="0" lang="en-US" altLang="en-US" sz="1800" b="1" i="0" u="none" strike="noStrike" cap="none" normalizeH="0" baseline="0" dirty="0">
                <a:ln>
                  <a:noFill/>
                </a:ln>
                <a:solidFill>
                  <a:schemeClr val="tx1"/>
                </a:solidFill>
                <a:effectLst/>
                <a:latin typeface="Arial" panose="020B0604020202020204" pitchFamily="34" charset="0"/>
              </a:rPr>
              <a:t>11.6K orders</a:t>
            </a:r>
            <a:r>
              <a:rPr kumimoji="0" lang="en-US" altLang="en-US" sz="1800" b="0" i="0" u="none" strike="noStrike" cap="none" normalizeH="0" baseline="0" dirty="0">
                <a:ln>
                  <a:noFill/>
                </a:ln>
                <a:solidFill>
                  <a:schemeClr val="tx1"/>
                </a:solidFill>
                <a:effectLst/>
                <a:latin typeface="Arial" panose="020B0604020202020204" pitchFamily="34" charset="0"/>
              </a:rPr>
              <a:t>, showing strong customer preference for both regular and organic bananas.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demand drops gradually after the top two products, indicating that bananas contribute significantly to overall sales.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High-demand products should be prioritized for inventory management to minimize stock-outs.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These products are ideal candidates for </a:t>
            </a:r>
            <a:r>
              <a:rPr kumimoji="0" lang="en-US" altLang="en-US" sz="1800" b="1" i="0" u="none" strike="noStrike" cap="none" normalizeH="0" baseline="0" dirty="0">
                <a:ln>
                  <a:noFill/>
                </a:ln>
                <a:solidFill>
                  <a:schemeClr val="tx1"/>
                </a:solidFill>
                <a:effectLst/>
                <a:latin typeface="Arial" panose="020B0604020202020204" pitchFamily="34" charset="0"/>
              </a:rPr>
              <a:t>bundling, promotional offers, and recommendation systems</a:t>
            </a:r>
            <a:r>
              <a:rPr kumimoji="0" lang="en-US" altLang="en-US" sz="1800" b="0" i="0" u="none" strike="noStrike" cap="none" normalizeH="0" baseline="0" dirty="0">
                <a:ln>
                  <a:noFill/>
                </a:ln>
                <a:solidFill>
                  <a:schemeClr val="tx1"/>
                </a:solidFill>
                <a:effectLst/>
                <a:latin typeface="Arial" panose="020B0604020202020204" pitchFamily="34" charset="0"/>
              </a:rPr>
              <a:t> to increase average order value. </a:t>
            </a:r>
          </a:p>
        </p:txBody>
      </p:sp>
    </p:spTree>
    <p:extLst>
      <p:ext uri="{BB962C8B-B14F-4D97-AF65-F5344CB8AC3E}">
        <p14:creationId xmlns:p14="http://schemas.microsoft.com/office/powerpoint/2010/main" val="1410689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85385F7-F284-0F84-D2B8-8409ABCC04C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934" t="3539" r="4020" b="2221"/>
          <a:stretch/>
        </p:blipFill>
        <p:spPr>
          <a:xfrm>
            <a:off x="27992" y="852714"/>
            <a:ext cx="5654351" cy="3126717"/>
          </a:xfrm>
        </p:spPr>
      </p:pic>
      <p:sp>
        <p:nvSpPr>
          <p:cNvPr id="4" name="Title 1">
            <a:extLst>
              <a:ext uri="{FF2B5EF4-FFF2-40B4-BE49-F238E27FC236}">
                <a16:creationId xmlns:a16="http://schemas.microsoft.com/office/drawing/2014/main" id="{85FAF1D3-BF02-2910-9988-A2FF3C99C33E}"/>
              </a:ext>
            </a:extLst>
          </p:cNvPr>
          <p:cNvSpPr txBox="1">
            <a:spLocks/>
          </p:cNvSpPr>
          <p:nvPr/>
        </p:nvSpPr>
        <p:spPr>
          <a:xfrm>
            <a:off x="0"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Distribution of Users by Department</a:t>
            </a:r>
          </a:p>
        </p:txBody>
      </p:sp>
      <p:sp>
        <p:nvSpPr>
          <p:cNvPr id="7" name="Rectangle 1">
            <a:extLst>
              <a:ext uri="{FF2B5EF4-FFF2-40B4-BE49-F238E27FC236}">
                <a16:creationId xmlns:a16="http://schemas.microsoft.com/office/drawing/2014/main" id="{6208EFE0-EAA6-63BD-5841-26B601F810B8}"/>
              </a:ext>
            </a:extLst>
          </p:cNvPr>
          <p:cNvSpPr>
            <a:spLocks noChangeArrowheads="1"/>
          </p:cNvSpPr>
          <p:nvPr/>
        </p:nvSpPr>
        <p:spPr bwMode="auto">
          <a:xfrm>
            <a:off x="5738327" y="1014495"/>
            <a:ext cx="6027575" cy="2672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Produce</a:t>
            </a:r>
            <a:r>
              <a:rPr kumimoji="0" lang="en-US" altLang="en-US" sz="1800" b="0" i="0" u="none" strike="noStrike" cap="none" normalizeH="0" baseline="0" dirty="0">
                <a:ln>
                  <a:noFill/>
                </a:ln>
                <a:solidFill>
                  <a:schemeClr val="tx1"/>
                </a:solidFill>
                <a:effectLst/>
                <a:latin typeface="Arial" panose="020B0604020202020204" pitchFamily="34" charset="0"/>
              </a:rPr>
              <a:t> has the largest user base with approximately </a:t>
            </a:r>
            <a:r>
              <a:rPr kumimoji="0" lang="en-US" altLang="en-US" sz="1800" b="1" i="0" u="none" strike="noStrike" cap="none" normalizeH="0" baseline="0" dirty="0">
                <a:ln>
                  <a:noFill/>
                </a:ln>
                <a:solidFill>
                  <a:schemeClr val="tx1"/>
                </a:solidFill>
                <a:effectLst/>
                <a:latin typeface="Arial" panose="020B0604020202020204" pitchFamily="34" charset="0"/>
              </a:rPr>
              <a:t>22K users</a:t>
            </a:r>
            <a:r>
              <a:rPr kumimoji="0" lang="en-US" altLang="en-US" sz="1800" b="0" i="0" u="none" strike="noStrike" cap="none" normalizeH="0" baseline="0" dirty="0">
                <a:ln>
                  <a:noFill/>
                </a:ln>
                <a:solidFill>
                  <a:schemeClr val="tx1"/>
                </a:solidFill>
                <a:effectLst/>
                <a:latin typeface="Arial" panose="020B0604020202020204" pitchFamily="34" charset="0"/>
              </a:rPr>
              <a:t>, making it the most popular department.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Dairy &amp; Eggs (20K)</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Beverages (14K)</a:t>
            </a:r>
            <a:r>
              <a:rPr kumimoji="0" lang="en-US" altLang="en-US" sz="1800" b="0" i="0" u="none" strike="noStrike" cap="none" normalizeH="0" baseline="0" dirty="0">
                <a:ln>
                  <a:noFill/>
                </a:ln>
                <a:solidFill>
                  <a:schemeClr val="tx1"/>
                </a:solidFill>
                <a:effectLst/>
                <a:latin typeface="Arial" panose="020B0604020202020204" pitchFamily="34" charset="0"/>
              </a:rPr>
              <a:t> are the next most visited departments, indicating strong customer preference for everyday essentials. </a:t>
            </a:r>
          </a:p>
        </p:txBody>
      </p:sp>
      <p:sp>
        <p:nvSpPr>
          <p:cNvPr id="9" name="TextBox 8">
            <a:extLst>
              <a:ext uri="{FF2B5EF4-FFF2-40B4-BE49-F238E27FC236}">
                <a16:creationId xmlns:a16="http://schemas.microsoft.com/office/drawing/2014/main" id="{0D9959E5-67D7-8DD8-FFD8-F9B0C75F1965}"/>
              </a:ext>
            </a:extLst>
          </p:cNvPr>
          <p:cNvSpPr txBox="1"/>
          <p:nvPr/>
        </p:nvSpPr>
        <p:spPr>
          <a:xfrm>
            <a:off x="153956" y="3914116"/>
            <a:ext cx="11611946" cy="2534027"/>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User count gradually declines across other departments, with </a:t>
            </a:r>
            <a:r>
              <a:rPr kumimoji="0" lang="en-US" altLang="en-US" sz="1800" b="1" i="0" u="none" strike="noStrike" cap="none" normalizeH="0" baseline="0" dirty="0">
                <a:ln>
                  <a:noFill/>
                </a:ln>
                <a:solidFill>
                  <a:schemeClr val="tx1"/>
                </a:solidFill>
                <a:effectLst/>
                <a:latin typeface="Arial" panose="020B0604020202020204" pitchFamily="34" charset="0"/>
              </a:rPr>
              <a:t>Snacks, Frozen, Pantry, and Bakery</a:t>
            </a:r>
            <a:r>
              <a:rPr kumimoji="0" lang="en-US" altLang="en-US" sz="1800" b="0" i="0" u="none" strike="noStrike" cap="none" normalizeH="0" baseline="0" dirty="0">
                <a:ln>
                  <a:noFill/>
                </a:ln>
                <a:solidFill>
                  <a:schemeClr val="tx1"/>
                </a:solidFill>
                <a:effectLst/>
                <a:latin typeface="Arial" panose="020B0604020202020204" pitchFamily="34" charset="0"/>
              </a:rPr>
              <a:t> maintaining moderate engagement.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Specialty departments such as </a:t>
            </a:r>
            <a:r>
              <a:rPr kumimoji="0" lang="en-US" altLang="en-US" sz="1800" b="1" i="0" u="none" strike="noStrike" cap="none" normalizeH="0" baseline="0" dirty="0">
                <a:ln>
                  <a:noFill/>
                </a:ln>
                <a:solidFill>
                  <a:schemeClr val="tx1"/>
                </a:solidFill>
                <a:effectLst/>
                <a:latin typeface="Arial" panose="020B0604020202020204" pitchFamily="34" charset="0"/>
              </a:rPr>
              <a:t>Alcohol, Pets, Other, and Bulk</a:t>
            </a:r>
            <a:r>
              <a:rPr kumimoji="0" lang="en-US" altLang="en-US" sz="1800" b="0" i="0" u="none" strike="noStrike" cap="none" normalizeH="0" baseline="0" dirty="0">
                <a:ln>
                  <a:noFill/>
                </a:ln>
                <a:solidFill>
                  <a:schemeClr val="tx1"/>
                </a:solidFill>
                <a:effectLst/>
                <a:latin typeface="Arial" panose="020B0604020202020204" pitchFamily="34" charset="0"/>
              </a:rPr>
              <a:t> have the lowest user counts, reflecting niche customer demand.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concentration of users in a few departments suggests that core grocery categories drive most customer traffic. </a:t>
            </a:r>
          </a:p>
        </p:txBody>
      </p:sp>
    </p:spTree>
    <p:extLst>
      <p:ext uri="{BB962C8B-B14F-4D97-AF65-F5344CB8AC3E}">
        <p14:creationId xmlns:p14="http://schemas.microsoft.com/office/powerpoint/2010/main" val="4212418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17D093C-6333-1B13-987C-254790B840B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314" t="-1" r="3968" b="4159"/>
          <a:stretch/>
        </p:blipFill>
        <p:spPr>
          <a:xfrm>
            <a:off x="0" y="1190949"/>
            <a:ext cx="3119503" cy="1666552"/>
          </a:xfrm>
        </p:spPr>
      </p:pic>
      <p:sp>
        <p:nvSpPr>
          <p:cNvPr id="4" name="Title 1">
            <a:extLst>
              <a:ext uri="{FF2B5EF4-FFF2-40B4-BE49-F238E27FC236}">
                <a16:creationId xmlns:a16="http://schemas.microsoft.com/office/drawing/2014/main" id="{3C439424-0921-1C98-E9D4-B3E808723968}"/>
              </a:ext>
            </a:extLst>
          </p:cNvPr>
          <p:cNvSpPr txBox="1">
            <a:spLocks/>
          </p:cNvSpPr>
          <p:nvPr/>
        </p:nvSpPr>
        <p:spPr>
          <a:xfrm>
            <a:off x="-27992"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2800" b="1" dirty="0">
                <a:latin typeface="Bahnschrift" panose="020B0502040204020203" pitchFamily="34" charset="0"/>
                <a:ea typeface="Book Antiqua" panose="02040602050305030304" pitchFamily="18" charset="0"/>
                <a:cs typeface="Book Antiqua" panose="02040602050305030304" pitchFamily="18" charset="0"/>
              </a:rPr>
              <a:t>A</a:t>
            </a:r>
            <a:r>
              <a:rPr lang="en-IN" sz="2800" b="1" dirty="0">
                <a:effectLst/>
                <a:latin typeface="Bahnschrift" panose="020B0502040204020203" pitchFamily="34" charset="0"/>
                <a:ea typeface="Book Antiqua" panose="02040602050305030304" pitchFamily="18" charset="0"/>
                <a:cs typeface="Book Antiqua" panose="02040602050305030304" pitchFamily="18" charset="0"/>
              </a:rPr>
              <a:t>verage number of Products per Order</a:t>
            </a:r>
            <a:endParaRPr lang="en-US" sz="2800" b="1" dirty="0">
              <a:latin typeface="Bahnschrift" panose="020B0502040204020203" pitchFamily="34" charset="0"/>
            </a:endParaRPr>
          </a:p>
        </p:txBody>
      </p:sp>
      <p:sp>
        <p:nvSpPr>
          <p:cNvPr id="8" name="TextBox 7">
            <a:extLst>
              <a:ext uri="{FF2B5EF4-FFF2-40B4-BE49-F238E27FC236}">
                <a16:creationId xmlns:a16="http://schemas.microsoft.com/office/drawing/2014/main" id="{982E33C3-574B-45F7-440D-E14B3C24F838}"/>
              </a:ext>
            </a:extLst>
          </p:cNvPr>
          <p:cNvSpPr txBox="1"/>
          <p:nvPr/>
        </p:nvSpPr>
        <p:spPr>
          <a:xfrm>
            <a:off x="3119503" y="890036"/>
            <a:ext cx="8543762" cy="2268378"/>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INSIGHTS</a:t>
            </a:r>
          </a:p>
          <a:p>
            <a:pPr>
              <a:buFont typeface="Arial" panose="020B0604020202020204" pitchFamily="34" charset="0"/>
              <a:buChar char="•"/>
            </a:pPr>
            <a:endParaRPr lang="en-US" dirty="0"/>
          </a:p>
          <a:p>
            <a:pPr marL="285750" indent="-285750" algn="just">
              <a:lnSpc>
                <a:spcPct val="150000"/>
              </a:lnSpc>
              <a:buFont typeface="Wingdings" panose="05000000000000000000" pitchFamily="2" charset="2"/>
              <a:buChar char="q"/>
            </a:pPr>
            <a:r>
              <a:rPr lang="en-US" dirty="0"/>
              <a:t>The </a:t>
            </a:r>
            <a:r>
              <a:rPr lang="en-US" b="1" dirty="0"/>
              <a:t>average order size is 34.66 items</a:t>
            </a:r>
            <a:r>
              <a:rPr lang="en-US" dirty="0"/>
              <a:t>, indicating customers typically purchase multiple products in a single order. </a:t>
            </a:r>
          </a:p>
          <a:p>
            <a:pPr marL="285750" indent="-285750" algn="just">
              <a:lnSpc>
                <a:spcPct val="150000"/>
              </a:lnSpc>
              <a:buFont typeface="Wingdings" panose="05000000000000000000" pitchFamily="2" charset="2"/>
              <a:buChar char="q"/>
            </a:pPr>
            <a:r>
              <a:rPr lang="en-US" dirty="0"/>
              <a:t>A relatively large basket size suggests customers prefer completing their grocery shopping in one transaction. </a:t>
            </a:r>
          </a:p>
        </p:txBody>
      </p:sp>
      <p:sp>
        <p:nvSpPr>
          <p:cNvPr id="10" name="TextBox 9">
            <a:extLst>
              <a:ext uri="{FF2B5EF4-FFF2-40B4-BE49-F238E27FC236}">
                <a16:creationId xmlns:a16="http://schemas.microsoft.com/office/drawing/2014/main" id="{BE7DE81D-E003-59ED-8E9F-5141E37B35A4}"/>
              </a:ext>
            </a:extLst>
          </p:cNvPr>
          <p:cNvSpPr txBox="1"/>
          <p:nvPr/>
        </p:nvSpPr>
        <p:spPr>
          <a:xfrm>
            <a:off x="63727" y="3007089"/>
            <a:ext cx="11599537" cy="1714380"/>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dirty="0"/>
              <a:t>This reflects strong customer engagement and provides opportunities for increasing revenue through complementary product recommendations. </a:t>
            </a:r>
          </a:p>
          <a:p>
            <a:pPr marL="285750" indent="-285750" algn="just">
              <a:lnSpc>
                <a:spcPct val="150000"/>
              </a:lnSpc>
              <a:buFont typeface="Wingdings" panose="05000000000000000000" pitchFamily="2" charset="2"/>
              <a:buChar char="q"/>
            </a:pPr>
            <a:r>
              <a:rPr lang="en-US" dirty="0"/>
              <a:t>Maintaining stock availability for frequently purchased items is essential to support large basket purchases. </a:t>
            </a:r>
          </a:p>
          <a:p>
            <a:pPr marL="285750" indent="-285750" algn="just">
              <a:lnSpc>
                <a:spcPct val="150000"/>
              </a:lnSpc>
              <a:buFont typeface="Wingdings" panose="05000000000000000000" pitchFamily="2" charset="2"/>
              <a:buChar char="q"/>
            </a:pPr>
            <a:r>
              <a:rPr lang="en-US" dirty="0"/>
              <a:t>Bundling and personalized recommendations can further increase the average order size. </a:t>
            </a:r>
          </a:p>
        </p:txBody>
      </p:sp>
    </p:spTree>
    <p:extLst>
      <p:ext uri="{BB962C8B-B14F-4D97-AF65-F5344CB8AC3E}">
        <p14:creationId xmlns:p14="http://schemas.microsoft.com/office/powerpoint/2010/main" val="4230709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0BE4EC7-73A0-7AC2-62DB-381538F0212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8072" t="2431" r="3382" b="2147"/>
          <a:stretch/>
        </p:blipFill>
        <p:spPr>
          <a:xfrm>
            <a:off x="158620" y="877078"/>
            <a:ext cx="4441372" cy="3413845"/>
          </a:xfrm>
        </p:spPr>
      </p:pic>
      <p:sp>
        <p:nvSpPr>
          <p:cNvPr id="4" name="Title 1">
            <a:extLst>
              <a:ext uri="{FF2B5EF4-FFF2-40B4-BE49-F238E27FC236}">
                <a16:creationId xmlns:a16="http://schemas.microsoft.com/office/drawing/2014/main" id="{62765C25-9F67-0C5F-A29B-40F35CF459E0}"/>
              </a:ext>
            </a:extLst>
          </p:cNvPr>
          <p:cNvSpPr txBox="1">
            <a:spLocks/>
          </p:cNvSpPr>
          <p:nvPr/>
        </p:nvSpPr>
        <p:spPr>
          <a:xfrm>
            <a:off x="0"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Distribution of Reordered Products by Department</a:t>
            </a:r>
          </a:p>
        </p:txBody>
      </p:sp>
      <p:sp>
        <p:nvSpPr>
          <p:cNvPr id="7" name="Rectangle 1">
            <a:extLst>
              <a:ext uri="{FF2B5EF4-FFF2-40B4-BE49-F238E27FC236}">
                <a16:creationId xmlns:a16="http://schemas.microsoft.com/office/drawing/2014/main" id="{0B62D0D5-20C2-B269-FF39-29247CBD0F19}"/>
              </a:ext>
            </a:extLst>
          </p:cNvPr>
          <p:cNvSpPr>
            <a:spLocks noChangeArrowheads="1"/>
          </p:cNvSpPr>
          <p:nvPr/>
        </p:nvSpPr>
        <p:spPr bwMode="auto">
          <a:xfrm>
            <a:off x="4730621" y="787400"/>
            <a:ext cx="7044612" cy="3503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Produce leads reorders with approximately 205K</a:t>
            </a:r>
            <a:r>
              <a:rPr kumimoji="0" lang="en-US" altLang="en-US" sz="1800" b="0" i="0" u="none" strike="noStrike" cap="none" normalizeH="0" baseline="0" dirty="0">
                <a:ln>
                  <a:noFill/>
                </a:ln>
                <a:solidFill>
                  <a:schemeClr val="tx1"/>
                </a:solidFill>
                <a:effectLst/>
                <a:latin typeface="Arial" panose="020B0604020202020204" pitchFamily="34" charset="0"/>
              </a:rPr>
              <a:t>, demonstrating the highest customer loyalty and repeat purchasing.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Dairy &amp; Eggs (111K)</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Beverages (57K)</a:t>
            </a:r>
            <a:r>
              <a:rPr kumimoji="0" lang="en-US" altLang="en-US" sz="1800" b="0" i="0" u="none" strike="noStrike" cap="none" normalizeH="0" baseline="0" dirty="0">
                <a:ln>
                  <a:noFill/>
                </a:ln>
                <a:solidFill>
                  <a:schemeClr val="tx1"/>
                </a:solidFill>
                <a:effectLst/>
                <a:latin typeface="Arial" panose="020B0604020202020204" pitchFamily="34" charset="0"/>
              </a:rPr>
              <a:t> also contribute significantly to total reorders.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Departments such as </a:t>
            </a:r>
            <a:r>
              <a:rPr kumimoji="0" lang="en-US" altLang="en-US" sz="1800" b="1" i="0" u="none" strike="noStrike" cap="none" normalizeH="0" baseline="0" dirty="0">
                <a:ln>
                  <a:noFill/>
                </a:ln>
                <a:solidFill>
                  <a:schemeClr val="tx1"/>
                </a:solidFill>
                <a:effectLst/>
                <a:latin typeface="Arial" panose="020B0604020202020204" pitchFamily="34" charset="0"/>
              </a:rPr>
              <a:t>Snacks (52K)</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Frozen (42K)</a:t>
            </a:r>
            <a:r>
              <a:rPr kumimoji="0" lang="en-US" altLang="en-US" sz="1800" b="0" i="0" u="none" strike="noStrike" cap="none" normalizeH="0" baseline="0" dirty="0">
                <a:ln>
                  <a:noFill/>
                </a:ln>
                <a:solidFill>
                  <a:schemeClr val="tx1"/>
                </a:solidFill>
                <a:effectLst/>
                <a:latin typeface="Arial" panose="020B0604020202020204" pitchFamily="34" charset="0"/>
              </a:rPr>
              <a:t> show consistent repeat demand. </a:t>
            </a:r>
          </a:p>
        </p:txBody>
      </p:sp>
      <p:sp>
        <p:nvSpPr>
          <p:cNvPr id="9" name="TextBox 8">
            <a:extLst>
              <a:ext uri="{FF2B5EF4-FFF2-40B4-BE49-F238E27FC236}">
                <a16:creationId xmlns:a16="http://schemas.microsoft.com/office/drawing/2014/main" id="{65FC5C25-B7D8-66C1-CB80-7EB25FE96C82}"/>
              </a:ext>
            </a:extLst>
          </p:cNvPr>
          <p:cNvSpPr txBox="1"/>
          <p:nvPr/>
        </p:nvSpPr>
        <p:spPr>
          <a:xfrm>
            <a:off x="158619" y="4180339"/>
            <a:ext cx="11616613" cy="2534027"/>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Categories like </a:t>
            </a:r>
            <a:r>
              <a:rPr kumimoji="0" lang="en-US" altLang="en-US" sz="1800" b="1" i="0" u="none" strike="noStrike" cap="none" normalizeH="0" baseline="0" dirty="0">
                <a:ln>
                  <a:noFill/>
                </a:ln>
                <a:solidFill>
                  <a:schemeClr val="tx1"/>
                </a:solidFill>
                <a:effectLst/>
                <a:latin typeface="Arial" panose="020B0604020202020204" pitchFamily="34" charset="0"/>
              </a:rPr>
              <a:t>Alcohol, Pets, Personal Care, and Other</a:t>
            </a:r>
            <a:r>
              <a:rPr kumimoji="0" lang="en-US" altLang="en-US" sz="1800" b="0" i="0" u="none" strike="noStrike" cap="none" normalizeH="0" baseline="0" dirty="0">
                <a:ln>
                  <a:noFill/>
                </a:ln>
                <a:solidFill>
                  <a:schemeClr val="tx1"/>
                </a:solidFill>
                <a:effectLst/>
                <a:latin typeface="Arial" panose="020B0604020202020204" pitchFamily="34" charset="0"/>
              </a:rPr>
              <a:t> contribute relatively fewer reorders, indicating lower repeat purchase frequency.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Reorder patterns are concentrated in essential grocery categories, suggesting customers frequently repurchase fresh food and daily necessities.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Inventory planning should prioritize departments with the highest reorder volumes to minimize stock-outs and improve customer satisfaction. </a:t>
            </a:r>
          </a:p>
        </p:txBody>
      </p:sp>
    </p:spTree>
    <p:extLst>
      <p:ext uri="{BB962C8B-B14F-4D97-AF65-F5344CB8AC3E}">
        <p14:creationId xmlns:p14="http://schemas.microsoft.com/office/powerpoint/2010/main" val="4020334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FD26117-91D5-0F74-537A-0BBC12C33EC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923" t="4397" r="1718" b="4559"/>
          <a:stretch/>
        </p:blipFill>
        <p:spPr>
          <a:xfrm>
            <a:off x="27992" y="830067"/>
            <a:ext cx="5411755" cy="2641599"/>
          </a:xfrm>
        </p:spPr>
      </p:pic>
      <p:sp>
        <p:nvSpPr>
          <p:cNvPr id="4" name="Title 1">
            <a:extLst>
              <a:ext uri="{FF2B5EF4-FFF2-40B4-BE49-F238E27FC236}">
                <a16:creationId xmlns:a16="http://schemas.microsoft.com/office/drawing/2014/main" id="{EC83A11B-1F92-68EF-ACF1-A91648029397}"/>
              </a:ext>
            </a:extLst>
          </p:cNvPr>
          <p:cNvSpPr txBox="1">
            <a:spLocks/>
          </p:cNvSpPr>
          <p:nvPr/>
        </p:nvSpPr>
        <p:spPr>
          <a:xfrm>
            <a:off x="0"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Products Reordered more than once</a:t>
            </a:r>
          </a:p>
        </p:txBody>
      </p:sp>
      <p:sp>
        <p:nvSpPr>
          <p:cNvPr id="3" name="TextBox 2">
            <a:extLst>
              <a:ext uri="{FF2B5EF4-FFF2-40B4-BE49-F238E27FC236}">
                <a16:creationId xmlns:a16="http://schemas.microsoft.com/office/drawing/2014/main" id="{3B2CFEE4-26E4-635D-AF54-E5134D446F09}"/>
              </a:ext>
            </a:extLst>
          </p:cNvPr>
          <p:cNvSpPr txBox="1"/>
          <p:nvPr/>
        </p:nvSpPr>
        <p:spPr>
          <a:xfrm>
            <a:off x="5439747" y="946021"/>
            <a:ext cx="6503437" cy="2268378"/>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INSIGHTS</a:t>
            </a:r>
          </a:p>
          <a:p>
            <a:pPr>
              <a:buFont typeface="Arial" panose="020B0604020202020204" pitchFamily="34" charset="0"/>
              <a:buChar char="•"/>
            </a:pPr>
            <a:endParaRPr lang="en-US" b="1" dirty="0"/>
          </a:p>
          <a:p>
            <a:pPr marL="285750" indent="-285750" algn="just">
              <a:lnSpc>
                <a:spcPct val="150000"/>
              </a:lnSpc>
              <a:buFont typeface="Wingdings" panose="05000000000000000000" pitchFamily="2" charset="2"/>
              <a:buChar char="q"/>
            </a:pPr>
            <a:r>
              <a:rPr lang="en-US" b="1" dirty="0"/>
              <a:t>Bananas</a:t>
            </a:r>
            <a:r>
              <a:rPr lang="en-US" dirty="0"/>
              <a:t> are the most reordered product with </a:t>
            </a:r>
            <a:r>
              <a:rPr lang="en-US" b="1" dirty="0"/>
              <a:t>12.5K reorders</a:t>
            </a:r>
            <a:r>
              <a:rPr lang="en-US" dirty="0"/>
              <a:t>, indicating the highest customer loyalty. </a:t>
            </a:r>
          </a:p>
          <a:p>
            <a:pPr marL="285750" indent="-285750" algn="just">
              <a:lnSpc>
                <a:spcPct val="150000"/>
              </a:lnSpc>
              <a:buFont typeface="Wingdings" panose="05000000000000000000" pitchFamily="2" charset="2"/>
              <a:buChar char="q"/>
            </a:pPr>
            <a:r>
              <a:rPr lang="en-US" b="1" dirty="0"/>
              <a:t>Bag of Organic Bananas (10.1K)</a:t>
            </a:r>
            <a:r>
              <a:rPr lang="en-US" dirty="0"/>
              <a:t> ranks second, showing strong demand for both regular and organic bananas. </a:t>
            </a:r>
          </a:p>
        </p:txBody>
      </p:sp>
      <p:sp>
        <p:nvSpPr>
          <p:cNvPr id="7" name="TextBox 6">
            <a:extLst>
              <a:ext uri="{FF2B5EF4-FFF2-40B4-BE49-F238E27FC236}">
                <a16:creationId xmlns:a16="http://schemas.microsoft.com/office/drawing/2014/main" id="{A3480063-9245-01AA-2CBA-A433F65FD6FE}"/>
              </a:ext>
            </a:extLst>
          </p:cNvPr>
          <p:cNvSpPr txBox="1"/>
          <p:nvPr/>
        </p:nvSpPr>
        <p:spPr>
          <a:xfrm>
            <a:off x="27992" y="3301000"/>
            <a:ext cx="11915192" cy="2960875"/>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dirty="0"/>
              <a:t>Fresh produce dominates the list, including </a:t>
            </a:r>
            <a:r>
              <a:rPr lang="en-US" b="1" dirty="0"/>
              <a:t>Organic Strawberries, Organic Baby Spinach, Avocados, Lemons, and Berries</a:t>
            </a:r>
            <a:r>
              <a:rPr lang="en-US" dirty="0"/>
              <a:t>, highlighting customers' preference for fresh grocery items. </a:t>
            </a:r>
          </a:p>
          <a:p>
            <a:pPr marL="285750" indent="-285750" algn="just">
              <a:lnSpc>
                <a:spcPct val="150000"/>
              </a:lnSpc>
              <a:buFont typeface="Wingdings" panose="05000000000000000000" pitchFamily="2" charset="2"/>
              <a:buChar char="q"/>
            </a:pPr>
            <a:r>
              <a:rPr lang="en-US" dirty="0"/>
              <a:t>There is a noticeable drop in reorder volume after the top two products, suggesting they are the primary drivers of repeat purchases. </a:t>
            </a:r>
          </a:p>
          <a:p>
            <a:pPr marL="285750" indent="-285750" algn="just">
              <a:lnSpc>
                <a:spcPct val="150000"/>
              </a:lnSpc>
              <a:buFont typeface="Wingdings" panose="05000000000000000000" pitchFamily="2" charset="2"/>
              <a:buChar char="q"/>
            </a:pPr>
            <a:r>
              <a:rPr lang="en-US" dirty="0"/>
              <a:t>High reorder rates for these products emphasize the importance of maintaining sufficient inventory and minimizing stock-outs. </a:t>
            </a:r>
          </a:p>
          <a:p>
            <a:pPr marL="285750" indent="-285750" algn="just">
              <a:lnSpc>
                <a:spcPct val="150000"/>
              </a:lnSpc>
              <a:buFont typeface="Wingdings" panose="05000000000000000000" pitchFamily="2" charset="2"/>
              <a:buChar char="q"/>
            </a:pPr>
            <a:r>
              <a:rPr lang="en-US" dirty="0"/>
              <a:t>These products are ideal for loyalty programs, subscription services, and personalized recommendations. </a:t>
            </a:r>
          </a:p>
        </p:txBody>
      </p:sp>
    </p:spTree>
    <p:extLst>
      <p:ext uri="{BB962C8B-B14F-4D97-AF65-F5344CB8AC3E}">
        <p14:creationId xmlns:p14="http://schemas.microsoft.com/office/powerpoint/2010/main" val="1951005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434B06B-C6D3-894F-0404-D921E9C4528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2694" b="9241"/>
          <a:stretch/>
        </p:blipFill>
        <p:spPr>
          <a:xfrm>
            <a:off x="27992" y="787400"/>
            <a:ext cx="3657600" cy="1741196"/>
          </a:xfrm>
        </p:spPr>
      </p:pic>
      <p:sp>
        <p:nvSpPr>
          <p:cNvPr id="4" name="Title 1">
            <a:extLst>
              <a:ext uri="{FF2B5EF4-FFF2-40B4-BE49-F238E27FC236}">
                <a16:creationId xmlns:a16="http://schemas.microsoft.com/office/drawing/2014/main" id="{174A8E02-8D2B-B573-716A-754F00C1F4B5}"/>
              </a:ext>
            </a:extLst>
          </p:cNvPr>
          <p:cNvSpPr txBox="1">
            <a:spLocks/>
          </p:cNvSpPr>
          <p:nvPr/>
        </p:nvSpPr>
        <p:spPr>
          <a:xfrm>
            <a:off x="0"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Average Add to Cart Products per Order</a:t>
            </a:r>
          </a:p>
        </p:txBody>
      </p:sp>
      <p:sp>
        <p:nvSpPr>
          <p:cNvPr id="6" name="Rectangle 1">
            <a:extLst>
              <a:ext uri="{FF2B5EF4-FFF2-40B4-BE49-F238E27FC236}">
                <a16:creationId xmlns:a16="http://schemas.microsoft.com/office/drawing/2014/main" id="{8F3F8316-E098-E8DE-9A09-8D4A4B96E5FD}"/>
              </a:ext>
            </a:extLst>
          </p:cNvPr>
          <p:cNvSpPr>
            <a:spLocks noChangeArrowheads="1"/>
          </p:cNvSpPr>
          <p:nvPr/>
        </p:nvSpPr>
        <p:spPr bwMode="auto">
          <a:xfrm>
            <a:off x="3685592" y="1102565"/>
            <a:ext cx="7801750" cy="1426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Customers add an average of </a:t>
            </a:r>
            <a:r>
              <a:rPr kumimoji="0" lang="en-US" altLang="en-US" sz="1800" b="1" i="0" u="none" strike="noStrike" cap="none" normalizeH="0" baseline="0" dirty="0">
                <a:ln>
                  <a:noFill/>
                </a:ln>
                <a:solidFill>
                  <a:schemeClr val="tx1"/>
                </a:solidFill>
                <a:effectLst/>
                <a:latin typeface="Arial" panose="020B0604020202020204" pitchFamily="34" charset="0"/>
              </a:rPr>
              <a:t>10.53 products per order</a:t>
            </a:r>
            <a:r>
              <a:rPr kumimoji="0" lang="en-US" altLang="en-US" sz="1800" b="0" i="0" u="none" strike="noStrike" cap="none" normalizeH="0" baseline="0" dirty="0">
                <a:ln>
                  <a:noFill/>
                </a:ln>
                <a:solidFill>
                  <a:schemeClr val="tx1"/>
                </a:solidFill>
                <a:effectLst/>
                <a:latin typeface="Arial" panose="020B0604020202020204" pitchFamily="34" charset="0"/>
              </a:rPr>
              <a:t>, indicating multi-item shopping behavior. </a:t>
            </a:r>
          </a:p>
        </p:txBody>
      </p:sp>
      <p:sp>
        <p:nvSpPr>
          <p:cNvPr id="8" name="TextBox 7">
            <a:extLst>
              <a:ext uri="{FF2B5EF4-FFF2-40B4-BE49-F238E27FC236}">
                <a16:creationId xmlns:a16="http://schemas.microsoft.com/office/drawing/2014/main" id="{E07F51F4-30F4-2366-3D4F-E95920622BAF}"/>
              </a:ext>
            </a:extLst>
          </p:cNvPr>
          <p:cNvSpPr txBox="1"/>
          <p:nvPr/>
        </p:nvSpPr>
        <p:spPr>
          <a:xfrm>
            <a:off x="237930" y="2528596"/>
            <a:ext cx="11249412" cy="2118529"/>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average suggests customers prefer purchasing several items in a single transaction rather than placing multiple small orders.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A higher cart size contributes positively to overall sales and revenue.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Cross-selling and product recommendation strategies can further increase the average basket size.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Frequently purchased products should be displayed together to encourage additional purchases. </a:t>
            </a:r>
          </a:p>
        </p:txBody>
      </p:sp>
    </p:spTree>
    <p:extLst>
      <p:ext uri="{BB962C8B-B14F-4D97-AF65-F5344CB8AC3E}">
        <p14:creationId xmlns:p14="http://schemas.microsoft.com/office/powerpoint/2010/main" val="4139169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296A7BB-0245-42CD-6589-A6020A7B902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79" t="3873" r="1804" b="3047"/>
          <a:stretch/>
        </p:blipFill>
        <p:spPr>
          <a:xfrm>
            <a:off x="0" y="825759"/>
            <a:ext cx="8089641" cy="2603241"/>
          </a:xfrm>
        </p:spPr>
      </p:pic>
      <p:sp>
        <p:nvSpPr>
          <p:cNvPr id="4" name="Title 1">
            <a:extLst>
              <a:ext uri="{FF2B5EF4-FFF2-40B4-BE49-F238E27FC236}">
                <a16:creationId xmlns:a16="http://schemas.microsoft.com/office/drawing/2014/main" id="{3AFBA941-34EB-5231-588D-D770EB6F3B27}"/>
              </a:ext>
            </a:extLst>
          </p:cNvPr>
          <p:cNvSpPr txBox="1">
            <a:spLocks/>
          </p:cNvSpPr>
          <p:nvPr/>
        </p:nvSpPr>
        <p:spPr>
          <a:xfrm>
            <a:off x="0"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Distribution Orders per Daily Hours</a:t>
            </a:r>
          </a:p>
        </p:txBody>
      </p:sp>
      <p:sp>
        <p:nvSpPr>
          <p:cNvPr id="8" name="TextBox 7">
            <a:extLst>
              <a:ext uri="{FF2B5EF4-FFF2-40B4-BE49-F238E27FC236}">
                <a16:creationId xmlns:a16="http://schemas.microsoft.com/office/drawing/2014/main" id="{EF1B2350-5825-1356-8069-F4B64CB5C6AF}"/>
              </a:ext>
            </a:extLst>
          </p:cNvPr>
          <p:cNvSpPr txBox="1"/>
          <p:nvPr/>
        </p:nvSpPr>
        <p:spPr>
          <a:xfrm>
            <a:off x="8173616" y="825759"/>
            <a:ext cx="3634273" cy="2268378"/>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INSIGHTS</a:t>
            </a:r>
          </a:p>
          <a:p>
            <a:endParaRPr lang="en-US" dirty="0"/>
          </a:p>
          <a:p>
            <a:pPr marL="285750" indent="-285750" algn="just">
              <a:lnSpc>
                <a:spcPct val="150000"/>
              </a:lnSpc>
              <a:buFont typeface="Wingdings" panose="05000000000000000000" pitchFamily="2" charset="2"/>
              <a:buChar char="q"/>
            </a:pPr>
            <a:r>
              <a:rPr lang="en-US" dirty="0"/>
              <a:t>Order volume is </a:t>
            </a:r>
            <a:r>
              <a:rPr lang="en-US" b="1" dirty="0"/>
              <a:t>very low during midnight to early morning (12 AM–6 AM)</a:t>
            </a:r>
            <a:r>
              <a:rPr lang="en-US" dirty="0"/>
              <a:t>, with fewer than </a:t>
            </a:r>
            <a:r>
              <a:rPr lang="en-US" b="1" dirty="0"/>
              <a:t>10K orders per hour</a:t>
            </a:r>
            <a:r>
              <a:rPr lang="en-US" dirty="0"/>
              <a:t>. </a:t>
            </a:r>
          </a:p>
        </p:txBody>
      </p:sp>
      <p:sp>
        <p:nvSpPr>
          <p:cNvPr id="10" name="TextBox 9">
            <a:extLst>
              <a:ext uri="{FF2B5EF4-FFF2-40B4-BE49-F238E27FC236}">
                <a16:creationId xmlns:a16="http://schemas.microsoft.com/office/drawing/2014/main" id="{C9A44ADB-41CC-78D8-D841-1F45CBEE5785}"/>
              </a:ext>
            </a:extLst>
          </p:cNvPr>
          <p:cNvSpPr txBox="1"/>
          <p:nvPr/>
        </p:nvSpPr>
        <p:spPr>
          <a:xfrm>
            <a:off x="-1" y="3274841"/>
            <a:ext cx="11807889" cy="2960875"/>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dirty="0"/>
              <a:t>Orders increase rapidly from </a:t>
            </a:r>
            <a:r>
              <a:rPr lang="en-US" b="1" dirty="0"/>
              <a:t>7 AM onwards</a:t>
            </a:r>
            <a:r>
              <a:rPr lang="en-US" dirty="0"/>
              <a:t>, reaching </a:t>
            </a:r>
            <a:r>
              <a:rPr lang="en-US" b="1" dirty="0"/>
              <a:t>55K by 8 AM</a:t>
            </a:r>
            <a:r>
              <a:rPr lang="en-US" dirty="0"/>
              <a:t> and </a:t>
            </a:r>
            <a:r>
              <a:rPr lang="en-US" b="1" dirty="0"/>
              <a:t>79K by 9 AM</a:t>
            </a:r>
            <a:r>
              <a:rPr lang="en-US" dirty="0"/>
              <a:t>. </a:t>
            </a:r>
          </a:p>
          <a:p>
            <a:pPr marL="285750" indent="-285750" algn="just">
              <a:lnSpc>
                <a:spcPct val="150000"/>
              </a:lnSpc>
              <a:buFont typeface="Wingdings" panose="05000000000000000000" pitchFamily="2" charset="2"/>
              <a:buChar char="q"/>
            </a:pPr>
            <a:r>
              <a:rPr lang="en-US" b="1" dirty="0"/>
              <a:t>10 AM records the highest order volume (88K)</a:t>
            </a:r>
            <a:r>
              <a:rPr lang="en-US" dirty="0"/>
              <a:t>, making it the peak ordering hour. </a:t>
            </a:r>
          </a:p>
          <a:p>
            <a:pPr marL="285750" indent="-285750" algn="just">
              <a:lnSpc>
                <a:spcPct val="150000"/>
              </a:lnSpc>
              <a:buFont typeface="Wingdings" panose="05000000000000000000" pitchFamily="2" charset="2"/>
              <a:buChar char="q"/>
            </a:pPr>
            <a:r>
              <a:rPr lang="en-US" dirty="0"/>
              <a:t>Order activity remains consistently high between </a:t>
            </a:r>
            <a:r>
              <a:rPr lang="en-US" b="1" dirty="0"/>
              <a:t>10 AM and 4 PM</a:t>
            </a:r>
            <a:r>
              <a:rPr lang="en-US" dirty="0"/>
              <a:t>, with volumes ranging from </a:t>
            </a:r>
            <a:r>
              <a:rPr lang="en-US" b="1" dirty="0"/>
              <a:t>83K to 88K</a:t>
            </a:r>
            <a:r>
              <a:rPr lang="en-US" dirty="0"/>
              <a:t>, indicating sustained customer demand throughout the day. </a:t>
            </a:r>
          </a:p>
          <a:p>
            <a:pPr marL="285750" indent="-285750" algn="just">
              <a:lnSpc>
                <a:spcPct val="150000"/>
              </a:lnSpc>
              <a:buFont typeface="Wingdings" panose="05000000000000000000" pitchFamily="2" charset="2"/>
              <a:buChar char="q"/>
            </a:pPr>
            <a:r>
              <a:rPr lang="en-US" dirty="0"/>
              <a:t>After </a:t>
            </a:r>
            <a:r>
              <a:rPr lang="en-US" b="1" dirty="0"/>
              <a:t>5 PM</a:t>
            </a:r>
            <a:r>
              <a:rPr lang="en-US" dirty="0"/>
              <a:t>, order volume gradually declines, with a significant drop during the late evening hours. </a:t>
            </a:r>
          </a:p>
          <a:p>
            <a:pPr marL="285750" indent="-285750" algn="just">
              <a:lnSpc>
                <a:spcPct val="150000"/>
              </a:lnSpc>
              <a:buFont typeface="Wingdings" panose="05000000000000000000" pitchFamily="2" charset="2"/>
              <a:buChar char="q"/>
            </a:pPr>
            <a:r>
              <a:rPr lang="en-US" dirty="0"/>
              <a:t>Staffing, inventory availability, and delivery resources should be optimized during the </a:t>
            </a:r>
            <a:r>
              <a:rPr lang="en-US" b="1" dirty="0"/>
              <a:t>10 AM–4 PM peak period</a:t>
            </a:r>
            <a:r>
              <a:rPr lang="en-US" dirty="0"/>
              <a:t>, while promotional offers can be used during off-peak hours to improve demand. </a:t>
            </a:r>
          </a:p>
        </p:txBody>
      </p:sp>
    </p:spTree>
    <p:extLst>
      <p:ext uri="{BB962C8B-B14F-4D97-AF65-F5344CB8AC3E}">
        <p14:creationId xmlns:p14="http://schemas.microsoft.com/office/powerpoint/2010/main" val="2885222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C60A72-E556-283D-BA0B-2DC7F1A181C4}"/>
              </a:ext>
            </a:extLst>
          </p:cNvPr>
          <p:cNvSpPr txBox="1">
            <a:spLocks/>
          </p:cNvSpPr>
          <p:nvPr/>
        </p:nvSpPr>
        <p:spPr>
          <a:xfrm>
            <a:off x="0"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Distribution of Order size by Products</a:t>
            </a:r>
          </a:p>
        </p:txBody>
      </p:sp>
      <p:sp>
        <p:nvSpPr>
          <p:cNvPr id="2" name="Rectangle 1">
            <a:extLst>
              <a:ext uri="{FF2B5EF4-FFF2-40B4-BE49-F238E27FC236}">
                <a16:creationId xmlns:a16="http://schemas.microsoft.com/office/drawing/2014/main" id="{C2D0C149-E336-A13B-D4C9-8DA447DA9BD1}"/>
              </a:ext>
            </a:extLst>
          </p:cNvPr>
          <p:cNvSpPr>
            <a:spLocks noChangeArrowheads="1"/>
          </p:cNvSpPr>
          <p:nvPr/>
        </p:nvSpPr>
        <p:spPr bwMode="auto">
          <a:xfrm>
            <a:off x="5887615" y="769311"/>
            <a:ext cx="6139543" cy="3503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Orders containing 5 products are the most common</a:t>
            </a:r>
            <a:r>
              <a:rPr kumimoji="0" lang="en-US" altLang="en-US" sz="1800" b="0" i="0" u="none" strike="noStrike" cap="none" normalizeH="0" baseline="0" dirty="0">
                <a:ln>
                  <a:noFill/>
                </a:ln>
                <a:solidFill>
                  <a:schemeClr val="tx1"/>
                </a:solidFill>
                <a:effectLst/>
                <a:latin typeface="Arial" panose="020B0604020202020204" pitchFamily="34" charset="0"/>
              </a:rPr>
              <a:t>, with approximately </a:t>
            </a:r>
            <a:r>
              <a:rPr kumimoji="0" lang="en-US" altLang="en-US" sz="1800" b="1" i="0" u="none" strike="noStrike" cap="none" normalizeH="0" baseline="0" dirty="0">
                <a:ln>
                  <a:noFill/>
                </a:ln>
                <a:solidFill>
                  <a:schemeClr val="tx1"/>
                </a:solidFill>
                <a:effectLst/>
                <a:latin typeface="Arial" panose="020B0604020202020204" pitchFamily="34" charset="0"/>
              </a:rPr>
              <a:t>6.79K orders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Most customer orders contain </a:t>
            </a:r>
            <a:r>
              <a:rPr kumimoji="0" lang="en-US" altLang="en-US" sz="1800" b="1" i="0" u="none" strike="noStrike" cap="none" normalizeH="0" baseline="0" dirty="0">
                <a:ln>
                  <a:noFill/>
                </a:ln>
                <a:solidFill>
                  <a:schemeClr val="tx1"/>
                </a:solidFill>
                <a:effectLst/>
                <a:latin typeface="Arial" panose="020B0604020202020204" pitchFamily="34" charset="0"/>
              </a:rPr>
              <a:t>4–8 products</a:t>
            </a:r>
            <a:r>
              <a:rPr kumimoji="0" lang="en-US" altLang="en-US" sz="1800" b="0" i="0" u="none" strike="noStrike" cap="none" normalizeH="0" baseline="0" dirty="0">
                <a:ln>
                  <a:noFill/>
                </a:ln>
                <a:solidFill>
                  <a:schemeClr val="tx1"/>
                </a:solidFill>
                <a:effectLst/>
                <a:latin typeface="Arial" panose="020B0604020202020204" pitchFamily="34" charset="0"/>
              </a:rPr>
              <a:t>, indicating a preference for medium-sized shopping baskets.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After </a:t>
            </a:r>
            <a:r>
              <a:rPr kumimoji="0" lang="en-US" altLang="en-US" sz="1800" b="1" i="0" u="none" strike="noStrike" cap="none" normalizeH="0" baseline="0" dirty="0">
                <a:ln>
                  <a:noFill/>
                </a:ln>
                <a:solidFill>
                  <a:schemeClr val="tx1"/>
                </a:solidFill>
                <a:effectLst/>
                <a:latin typeface="Arial" panose="020B0604020202020204" pitchFamily="34" charset="0"/>
              </a:rPr>
              <a:t>8 products</a:t>
            </a:r>
            <a:r>
              <a:rPr kumimoji="0" lang="en-US" altLang="en-US" sz="1800" b="0" i="0" u="none" strike="noStrike" cap="none" normalizeH="0" baseline="0" dirty="0">
                <a:ln>
                  <a:noFill/>
                </a:ln>
                <a:solidFill>
                  <a:schemeClr val="tx1"/>
                </a:solidFill>
                <a:effectLst/>
                <a:latin typeface="Arial" panose="020B0604020202020204" pitchFamily="34" charset="0"/>
              </a:rPr>
              <a:t>, the number of orders gradually declines, showing fewer customers place very large orders. </a:t>
            </a:r>
          </a:p>
        </p:txBody>
      </p:sp>
      <p:pic>
        <p:nvPicPr>
          <p:cNvPr id="6" name="Picture 5">
            <a:extLst>
              <a:ext uri="{FF2B5EF4-FFF2-40B4-BE49-F238E27FC236}">
                <a16:creationId xmlns:a16="http://schemas.microsoft.com/office/drawing/2014/main" id="{31F9E02D-43C8-3B64-A76A-1203BB4E2401}"/>
              </a:ext>
            </a:extLst>
          </p:cNvPr>
          <p:cNvPicPr>
            <a:picLocks noChangeAspect="1"/>
          </p:cNvPicPr>
          <p:nvPr/>
        </p:nvPicPr>
        <p:blipFill>
          <a:blip r:embed="rId2">
            <a:extLst>
              <a:ext uri="{28A0092B-C50C-407E-A947-70E740481C1C}">
                <a14:useLocalDpi xmlns:a14="http://schemas.microsoft.com/office/drawing/2010/main" val="0"/>
              </a:ext>
            </a:extLst>
          </a:blip>
          <a:srcRect l="5043" t="3933" r="3092" b="2306"/>
          <a:stretch/>
        </p:blipFill>
        <p:spPr>
          <a:xfrm>
            <a:off x="93306" y="852714"/>
            <a:ext cx="5859624" cy="3402030"/>
          </a:xfrm>
          <a:prstGeom prst="rect">
            <a:avLst/>
          </a:prstGeom>
        </p:spPr>
      </p:pic>
      <p:sp>
        <p:nvSpPr>
          <p:cNvPr id="11" name="TextBox 10">
            <a:extLst>
              <a:ext uri="{FF2B5EF4-FFF2-40B4-BE49-F238E27FC236}">
                <a16:creationId xmlns:a16="http://schemas.microsoft.com/office/drawing/2014/main" id="{454C40F5-FD33-61FF-323B-3D8A0DF3964D}"/>
              </a:ext>
            </a:extLst>
          </p:cNvPr>
          <p:cNvSpPr txBox="1"/>
          <p:nvPr/>
        </p:nvSpPr>
        <p:spPr>
          <a:xfrm>
            <a:off x="27991" y="4189430"/>
            <a:ext cx="11999167" cy="1703030"/>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Orders with </a:t>
            </a:r>
            <a:r>
              <a:rPr kumimoji="0" lang="en-US" altLang="en-US" sz="1800" b="1" i="0" u="none" strike="noStrike" cap="none" normalizeH="0" baseline="0" dirty="0">
                <a:ln>
                  <a:noFill/>
                </a:ln>
                <a:solidFill>
                  <a:schemeClr val="tx1"/>
                </a:solidFill>
                <a:effectLst/>
                <a:latin typeface="Arial" panose="020B0604020202020204" pitchFamily="34" charset="0"/>
              </a:rPr>
              <a:t>20 or more products</a:t>
            </a:r>
            <a:r>
              <a:rPr kumimoji="0" lang="en-US" altLang="en-US" sz="1800" b="0" i="0" u="none" strike="noStrike" cap="none" normalizeH="0" baseline="0" dirty="0">
                <a:ln>
                  <a:noFill/>
                </a:ln>
                <a:solidFill>
                  <a:schemeClr val="tx1"/>
                </a:solidFill>
                <a:effectLst/>
                <a:latin typeface="Arial" panose="020B0604020202020204" pitchFamily="34" charset="0"/>
              </a:rPr>
              <a:t> are relatively uncommon, representing a small share of total transactions.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distribution suggests customers typically purchase a moderate number of items rather than making very small or very large orders.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Product bundling and personalized recommendations can encourage customers to increase their basket size. </a:t>
            </a:r>
          </a:p>
        </p:txBody>
      </p:sp>
    </p:spTree>
    <p:extLst>
      <p:ext uri="{BB962C8B-B14F-4D97-AF65-F5344CB8AC3E}">
        <p14:creationId xmlns:p14="http://schemas.microsoft.com/office/powerpoint/2010/main" val="3646545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137822-3D1F-F33F-6E2A-7B405B7A329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014" t="3007" r="3314" b="1929"/>
          <a:stretch/>
        </p:blipFill>
        <p:spPr>
          <a:xfrm>
            <a:off x="139958" y="905071"/>
            <a:ext cx="4861249" cy="3293706"/>
          </a:xfrm>
        </p:spPr>
      </p:pic>
      <p:sp>
        <p:nvSpPr>
          <p:cNvPr id="4" name="Title 1">
            <a:extLst>
              <a:ext uri="{FF2B5EF4-FFF2-40B4-BE49-F238E27FC236}">
                <a16:creationId xmlns:a16="http://schemas.microsoft.com/office/drawing/2014/main" id="{F2BF3D12-227C-1FAA-16BD-0791FB6ABC48}"/>
              </a:ext>
            </a:extLst>
          </p:cNvPr>
          <p:cNvSpPr txBox="1">
            <a:spLocks/>
          </p:cNvSpPr>
          <p:nvPr/>
        </p:nvSpPr>
        <p:spPr>
          <a:xfrm>
            <a:off x="0"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Distribution of Average Reorder Rate(%) by Aisle</a:t>
            </a:r>
          </a:p>
        </p:txBody>
      </p:sp>
      <p:sp>
        <p:nvSpPr>
          <p:cNvPr id="6" name="Rectangle 1">
            <a:extLst>
              <a:ext uri="{FF2B5EF4-FFF2-40B4-BE49-F238E27FC236}">
                <a16:creationId xmlns:a16="http://schemas.microsoft.com/office/drawing/2014/main" id="{AF023803-346C-8E11-BC05-BFA2C5ABF962}"/>
              </a:ext>
            </a:extLst>
          </p:cNvPr>
          <p:cNvSpPr>
            <a:spLocks noChangeArrowheads="1"/>
          </p:cNvSpPr>
          <p:nvPr/>
        </p:nvSpPr>
        <p:spPr bwMode="auto">
          <a:xfrm>
            <a:off x="4935893" y="787400"/>
            <a:ext cx="6979299" cy="3503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Milk</a:t>
            </a:r>
            <a:r>
              <a:rPr kumimoji="0" lang="en-US" altLang="en-US" sz="1800" b="0" i="0" u="none" strike="noStrike" cap="none" normalizeH="0" baseline="0" dirty="0">
                <a:ln>
                  <a:noFill/>
                </a:ln>
                <a:solidFill>
                  <a:schemeClr val="tx1"/>
                </a:solidFill>
                <a:effectLst/>
                <a:latin typeface="Arial" panose="020B0604020202020204" pitchFamily="34" charset="0"/>
              </a:rPr>
              <a:t> has the highest average reorder rate at </a:t>
            </a:r>
            <a:r>
              <a:rPr kumimoji="0" lang="en-US" altLang="en-US" sz="1800" b="1" i="0" u="none" strike="noStrike" cap="none" normalizeH="0" baseline="0" dirty="0">
                <a:ln>
                  <a:noFill/>
                </a:ln>
                <a:solidFill>
                  <a:schemeClr val="tx1"/>
                </a:solidFill>
                <a:effectLst/>
                <a:latin typeface="Arial" panose="020B0604020202020204" pitchFamily="34" charset="0"/>
              </a:rPr>
              <a:t>79%</a:t>
            </a:r>
            <a:r>
              <a:rPr kumimoji="0" lang="en-US" altLang="en-US" sz="1800" b="0" i="0" u="none" strike="noStrike" cap="none" normalizeH="0" baseline="0" dirty="0">
                <a:ln>
                  <a:noFill/>
                </a:ln>
                <a:solidFill>
                  <a:schemeClr val="tx1"/>
                </a:solidFill>
                <a:effectLst/>
                <a:latin typeface="Arial" panose="020B0604020202020204" pitchFamily="34" charset="0"/>
              </a:rPr>
              <a:t>, indicating the strongest customer loyalty.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Water/Seltzer/Sparkling Water</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Fresh Fruits</a:t>
            </a:r>
            <a:r>
              <a:rPr kumimoji="0" lang="en-US" altLang="en-US" sz="1800" b="0" i="0" u="none" strike="noStrike" cap="none" normalizeH="0" baseline="0" dirty="0">
                <a:ln>
                  <a:noFill/>
                </a:ln>
                <a:solidFill>
                  <a:schemeClr val="tx1"/>
                </a:solidFill>
                <a:effectLst/>
                <a:latin typeface="Arial" panose="020B0604020202020204" pitchFamily="34" charset="0"/>
              </a:rPr>
              <a:t> follow closely with </a:t>
            </a:r>
            <a:r>
              <a:rPr kumimoji="0" lang="en-US" altLang="en-US" sz="1800" b="1" i="0" u="none" strike="noStrike" cap="none" normalizeH="0" baseline="0" dirty="0">
                <a:ln>
                  <a:noFill/>
                </a:ln>
                <a:solidFill>
                  <a:schemeClr val="tx1"/>
                </a:solidFill>
                <a:effectLst/>
                <a:latin typeface="Arial" panose="020B0604020202020204" pitchFamily="34" charset="0"/>
              </a:rPr>
              <a:t>74%</a:t>
            </a:r>
            <a:r>
              <a:rPr kumimoji="0" lang="en-US" altLang="en-US" sz="1800" b="0" i="0" u="none" strike="noStrike" cap="none" normalizeH="0" baseline="0" dirty="0">
                <a:ln>
                  <a:noFill/>
                </a:ln>
                <a:solidFill>
                  <a:schemeClr val="tx1"/>
                </a:solidFill>
                <a:effectLst/>
                <a:latin typeface="Arial" panose="020B0604020202020204" pitchFamily="34" charset="0"/>
              </a:rPr>
              <a:t>, reflecting consistent repeat demand.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Essential grocery aisles such as </a:t>
            </a:r>
            <a:r>
              <a:rPr kumimoji="0" lang="en-US" altLang="en-US" sz="1800" b="1" i="0" u="none" strike="noStrike" cap="none" normalizeH="0" baseline="0" dirty="0">
                <a:ln>
                  <a:noFill/>
                </a:ln>
                <a:solidFill>
                  <a:schemeClr val="tx1"/>
                </a:solidFill>
                <a:effectLst/>
                <a:latin typeface="Arial" panose="020B0604020202020204" pitchFamily="34" charset="0"/>
              </a:rPr>
              <a:t>Eggs (73%)</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Packaged Produce (71%)</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Cream (70%)</a:t>
            </a:r>
            <a:r>
              <a:rPr kumimoji="0" lang="en-US" altLang="en-US" sz="1800" b="0" i="0" u="none" strike="noStrike" cap="none" normalizeH="0" baseline="0" dirty="0">
                <a:ln>
                  <a:noFill/>
                </a:ln>
                <a:solidFill>
                  <a:schemeClr val="tx1"/>
                </a:solidFill>
                <a:effectLst/>
                <a:latin typeface="Arial" panose="020B0604020202020204" pitchFamily="34" charset="0"/>
              </a:rPr>
              <a:t> also have high reorder rates. </a:t>
            </a:r>
          </a:p>
        </p:txBody>
      </p:sp>
      <p:sp>
        <p:nvSpPr>
          <p:cNvPr id="8" name="TextBox 7">
            <a:extLst>
              <a:ext uri="{FF2B5EF4-FFF2-40B4-BE49-F238E27FC236}">
                <a16:creationId xmlns:a16="http://schemas.microsoft.com/office/drawing/2014/main" id="{0A9781E2-FFC6-DA80-591B-88F9EB579A31}"/>
              </a:ext>
            </a:extLst>
          </p:cNvPr>
          <p:cNvSpPr txBox="1"/>
          <p:nvPr/>
        </p:nvSpPr>
        <p:spPr>
          <a:xfrm>
            <a:off x="139958" y="4125794"/>
            <a:ext cx="11775234" cy="2118529"/>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Most top-performing aisles have reorder rates between </a:t>
            </a:r>
            <a:r>
              <a:rPr kumimoji="0" lang="en-US" altLang="en-US" sz="1800" b="1" i="0" u="none" strike="noStrike" cap="none" normalizeH="0" baseline="0" dirty="0">
                <a:ln>
                  <a:noFill/>
                </a:ln>
                <a:solidFill>
                  <a:schemeClr val="tx1"/>
                </a:solidFill>
                <a:effectLst/>
                <a:latin typeface="Arial" panose="020B0604020202020204" pitchFamily="34" charset="0"/>
              </a:rPr>
              <a:t>65% and 79%</a:t>
            </a:r>
            <a:r>
              <a:rPr kumimoji="0" lang="en-US" altLang="en-US" sz="1800" b="0" i="0" u="none" strike="noStrike" cap="none" normalizeH="0" baseline="0" dirty="0">
                <a:ln>
                  <a:noFill/>
                </a:ln>
                <a:solidFill>
                  <a:schemeClr val="tx1"/>
                </a:solidFill>
                <a:effectLst/>
                <a:latin typeface="Arial" panose="020B0604020202020204" pitchFamily="34" charset="0"/>
              </a:rPr>
              <a:t>, showing strong repeat purchasing across daily household essentials.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These aisles should be prioritized for inventory management and promotional strategies to maintain customer satisfaction.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high reorder rates indicate that essential food categories drive repeat business. </a:t>
            </a:r>
          </a:p>
        </p:txBody>
      </p:sp>
    </p:spTree>
    <p:extLst>
      <p:ext uri="{BB962C8B-B14F-4D97-AF65-F5344CB8AC3E}">
        <p14:creationId xmlns:p14="http://schemas.microsoft.com/office/powerpoint/2010/main" val="660443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DD86F22-AB67-5DD9-B661-83782928975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890" t="2296" r="3009" b="3151"/>
          <a:stretch/>
        </p:blipFill>
        <p:spPr>
          <a:xfrm>
            <a:off x="121297" y="858416"/>
            <a:ext cx="4926564" cy="2752532"/>
          </a:xfrm>
        </p:spPr>
      </p:pic>
      <p:sp>
        <p:nvSpPr>
          <p:cNvPr id="4" name="Title 1">
            <a:extLst>
              <a:ext uri="{FF2B5EF4-FFF2-40B4-BE49-F238E27FC236}">
                <a16:creationId xmlns:a16="http://schemas.microsoft.com/office/drawing/2014/main" id="{E340318A-675B-A45F-4D51-2EAAE06AB72E}"/>
              </a:ext>
            </a:extLst>
          </p:cNvPr>
          <p:cNvSpPr txBox="1">
            <a:spLocks/>
          </p:cNvSpPr>
          <p:nvPr/>
        </p:nvSpPr>
        <p:spPr>
          <a:xfrm>
            <a:off x="0" y="0"/>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Distribution of Average Order Size(%) by Days of the Week</a:t>
            </a:r>
          </a:p>
        </p:txBody>
      </p:sp>
      <p:sp>
        <p:nvSpPr>
          <p:cNvPr id="8" name="TextBox 7">
            <a:extLst>
              <a:ext uri="{FF2B5EF4-FFF2-40B4-BE49-F238E27FC236}">
                <a16:creationId xmlns:a16="http://schemas.microsoft.com/office/drawing/2014/main" id="{1E1A33C2-5558-6772-E72E-105C7FE3EA99}"/>
              </a:ext>
            </a:extLst>
          </p:cNvPr>
          <p:cNvSpPr txBox="1"/>
          <p:nvPr/>
        </p:nvSpPr>
        <p:spPr>
          <a:xfrm>
            <a:off x="4977882" y="787400"/>
            <a:ext cx="6937310" cy="2683876"/>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INSIGHTS</a:t>
            </a:r>
          </a:p>
          <a:p>
            <a:pPr>
              <a:buFont typeface="Arial" panose="020B0604020202020204" pitchFamily="34" charset="0"/>
              <a:buChar char="•"/>
            </a:pPr>
            <a:endParaRPr lang="en-US" b="1" dirty="0"/>
          </a:p>
          <a:p>
            <a:pPr marL="285750" indent="-285750" algn="just">
              <a:lnSpc>
                <a:spcPct val="150000"/>
              </a:lnSpc>
              <a:buFont typeface="Wingdings" panose="05000000000000000000" pitchFamily="2" charset="2"/>
              <a:buChar char="q"/>
            </a:pPr>
            <a:r>
              <a:rPr lang="en-US" b="1" dirty="0"/>
              <a:t>Friday and Sunday have the highest average order size (61 items)</a:t>
            </a:r>
            <a:r>
              <a:rPr lang="en-US" dirty="0"/>
              <a:t>, indicating customers purchase more products on these days. </a:t>
            </a:r>
          </a:p>
          <a:p>
            <a:pPr marL="285750" indent="-285750" algn="just">
              <a:lnSpc>
                <a:spcPct val="150000"/>
              </a:lnSpc>
              <a:buFont typeface="Wingdings" panose="05000000000000000000" pitchFamily="2" charset="2"/>
              <a:buChar char="q"/>
            </a:pPr>
            <a:r>
              <a:rPr lang="en-US" b="1" dirty="0"/>
              <a:t>Monday, Thursday, and Saturday</a:t>
            </a:r>
            <a:r>
              <a:rPr lang="en-US" dirty="0"/>
              <a:t> follow closely with an average order size of </a:t>
            </a:r>
            <a:r>
              <a:rPr lang="en-US" b="1" dirty="0"/>
              <a:t>60 items</a:t>
            </a:r>
            <a:r>
              <a:rPr lang="en-US" dirty="0"/>
              <a:t>. </a:t>
            </a:r>
          </a:p>
        </p:txBody>
      </p:sp>
      <p:sp>
        <p:nvSpPr>
          <p:cNvPr id="10" name="TextBox 9">
            <a:extLst>
              <a:ext uri="{FF2B5EF4-FFF2-40B4-BE49-F238E27FC236}">
                <a16:creationId xmlns:a16="http://schemas.microsoft.com/office/drawing/2014/main" id="{6E007752-FE14-61D6-5D91-30F228DBD83F}"/>
              </a:ext>
            </a:extLst>
          </p:cNvPr>
          <p:cNvSpPr txBox="1"/>
          <p:nvPr/>
        </p:nvSpPr>
        <p:spPr>
          <a:xfrm>
            <a:off x="121296" y="3429000"/>
            <a:ext cx="11793895" cy="2129878"/>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b="1" dirty="0"/>
              <a:t>Tuesday and Wednesday</a:t>
            </a:r>
            <a:r>
              <a:rPr lang="en-US" dirty="0"/>
              <a:t> record the lowest average order size at </a:t>
            </a:r>
            <a:r>
              <a:rPr lang="en-US" b="1" dirty="0"/>
              <a:t>59 items</a:t>
            </a:r>
            <a:r>
              <a:rPr lang="en-US" dirty="0"/>
              <a:t>, although the difference is minimal. </a:t>
            </a:r>
          </a:p>
          <a:p>
            <a:pPr marL="285750" indent="-285750" algn="just">
              <a:lnSpc>
                <a:spcPct val="150000"/>
              </a:lnSpc>
              <a:buFont typeface="Wingdings" panose="05000000000000000000" pitchFamily="2" charset="2"/>
              <a:buChar char="q"/>
            </a:pPr>
            <a:r>
              <a:rPr lang="en-US" dirty="0"/>
              <a:t>The variation in average order size across the week is very small (</a:t>
            </a:r>
            <a:r>
              <a:rPr lang="en-US" b="1" dirty="0"/>
              <a:t>59–61 items</a:t>
            </a:r>
            <a:r>
              <a:rPr lang="en-US" dirty="0"/>
              <a:t>), suggesting consistent purchasing behavior regardless of the day. </a:t>
            </a:r>
          </a:p>
          <a:p>
            <a:pPr marL="285750" indent="-285750" algn="just">
              <a:lnSpc>
                <a:spcPct val="150000"/>
              </a:lnSpc>
              <a:buFont typeface="Wingdings" panose="05000000000000000000" pitchFamily="2" charset="2"/>
              <a:buChar char="q"/>
            </a:pPr>
            <a:r>
              <a:rPr lang="en-US" dirty="0"/>
              <a:t>Slightly larger baskets on </a:t>
            </a:r>
            <a:r>
              <a:rPr lang="en-US" b="1" dirty="0"/>
              <a:t>Friday and Sunday</a:t>
            </a:r>
            <a:r>
              <a:rPr lang="en-US" dirty="0"/>
              <a:t> may reflect weekend grocery shopping patterns. </a:t>
            </a:r>
          </a:p>
          <a:p>
            <a:pPr marL="285750" indent="-285750" algn="just">
              <a:lnSpc>
                <a:spcPct val="150000"/>
              </a:lnSpc>
              <a:buFont typeface="Wingdings" panose="05000000000000000000" pitchFamily="2" charset="2"/>
              <a:buChar char="q"/>
            </a:pPr>
            <a:r>
              <a:rPr lang="en-US" dirty="0"/>
              <a:t>Marketing campaigns on midweek days could encourage customers to increase their basket size further. </a:t>
            </a:r>
          </a:p>
        </p:txBody>
      </p:sp>
    </p:spTree>
    <p:extLst>
      <p:ext uri="{BB962C8B-B14F-4D97-AF65-F5344CB8AC3E}">
        <p14:creationId xmlns:p14="http://schemas.microsoft.com/office/powerpoint/2010/main" val="1748868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23BC7F-1308-2381-2BCF-BE2AB6F31C0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376" t="3175" r="1817" b="3877"/>
          <a:stretch/>
        </p:blipFill>
        <p:spPr>
          <a:xfrm>
            <a:off x="27992" y="787399"/>
            <a:ext cx="5337110" cy="3514873"/>
          </a:xfrm>
        </p:spPr>
      </p:pic>
      <p:sp>
        <p:nvSpPr>
          <p:cNvPr id="4" name="Title 1">
            <a:extLst>
              <a:ext uri="{FF2B5EF4-FFF2-40B4-BE49-F238E27FC236}">
                <a16:creationId xmlns:a16="http://schemas.microsoft.com/office/drawing/2014/main" id="{E53E59C0-3A19-8030-CF4B-661E1D8B986B}"/>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Distribution of Users by number of Order</a:t>
            </a:r>
          </a:p>
        </p:txBody>
      </p:sp>
      <p:sp>
        <p:nvSpPr>
          <p:cNvPr id="7" name="TextBox 6">
            <a:extLst>
              <a:ext uri="{FF2B5EF4-FFF2-40B4-BE49-F238E27FC236}">
                <a16:creationId xmlns:a16="http://schemas.microsoft.com/office/drawing/2014/main" id="{E97AFBED-28A1-75F6-7E99-E4CAA6B7F398}"/>
              </a:ext>
            </a:extLst>
          </p:cNvPr>
          <p:cNvSpPr txBox="1"/>
          <p:nvPr/>
        </p:nvSpPr>
        <p:spPr>
          <a:xfrm>
            <a:off x="5421086" y="787400"/>
            <a:ext cx="6559420" cy="3514873"/>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INSIGHTS</a:t>
            </a:r>
          </a:p>
          <a:p>
            <a:pPr>
              <a:buFont typeface="Arial" panose="020B0604020202020204" pitchFamily="34" charset="0"/>
              <a:buChar char="•"/>
            </a:pPr>
            <a:endParaRPr lang="en-US" dirty="0"/>
          </a:p>
          <a:p>
            <a:pPr marL="285750" indent="-285750" algn="just">
              <a:lnSpc>
                <a:spcPct val="150000"/>
              </a:lnSpc>
              <a:buFont typeface="Wingdings" panose="05000000000000000000" pitchFamily="2" charset="2"/>
              <a:buChar char="q"/>
            </a:pPr>
            <a:r>
              <a:rPr lang="en-US" dirty="0"/>
              <a:t>The highest purchasing customer (</a:t>
            </a:r>
            <a:r>
              <a:rPr lang="en-US" b="1" dirty="0"/>
              <a:t>User 31611</a:t>
            </a:r>
            <a:r>
              <a:rPr lang="en-US" dirty="0"/>
              <a:t>) placed </a:t>
            </a:r>
            <a:r>
              <a:rPr lang="en-US" b="1" dirty="0"/>
              <a:t>74 orders</a:t>
            </a:r>
            <a:r>
              <a:rPr lang="en-US" dirty="0"/>
              <a:t>, making them the most active customer. </a:t>
            </a:r>
          </a:p>
          <a:p>
            <a:pPr marL="285750" indent="-285750" algn="just">
              <a:lnSpc>
                <a:spcPct val="150000"/>
              </a:lnSpc>
              <a:buFont typeface="Wingdings" panose="05000000000000000000" pitchFamily="2" charset="2"/>
              <a:buChar char="q"/>
            </a:pPr>
            <a:r>
              <a:rPr lang="en-US" dirty="0"/>
              <a:t>The top 10 customers placed between </a:t>
            </a:r>
            <a:r>
              <a:rPr lang="en-US" b="1" dirty="0"/>
              <a:t>60 and 74 orders</a:t>
            </a:r>
            <a:r>
              <a:rPr lang="en-US" dirty="0"/>
              <a:t>, showing consistently high purchasing activity. </a:t>
            </a:r>
          </a:p>
          <a:p>
            <a:pPr marL="285750" indent="-285750" algn="just">
              <a:lnSpc>
                <a:spcPct val="150000"/>
              </a:lnSpc>
              <a:buFont typeface="Wingdings" panose="05000000000000000000" pitchFamily="2" charset="2"/>
              <a:buChar char="q"/>
            </a:pPr>
            <a:r>
              <a:rPr lang="en-US" dirty="0"/>
              <a:t>The gap between the highest and lowest customer in the top 10 is relatively small (</a:t>
            </a:r>
            <a:r>
              <a:rPr lang="en-US" b="1" dirty="0"/>
              <a:t>14 orders</a:t>
            </a:r>
            <a:r>
              <a:rPr lang="en-US" dirty="0"/>
              <a:t>), indicating a balanced distribution among loyal customers. </a:t>
            </a:r>
          </a:p>
        </p:txBody>
      </p:sp>
      <p:sp>
        <p:nvSpPr>
          <p:cNvPr id="9" name="TextBox 8">
            <a:extLst>
              <a:ext uri="{FF2B5EF4-FFF2-40B4-BE49-F238E27FC236}">
                <a16:creationId xmlns:a16="http://schemas.microsoft.com/office/drawing/2014/main" id="{6F7A20BA-2FF3-6A0E-BB34-526A821337C3}"/>
              </a:ext>
            </a:extLst>
          </p:cNvPr>
          <p:cNvSpPr txBox="1"/>
          <p:nvPr/>
        </p:nvSpPr>
        <p:spPr>
          <a:xfrm>
            <a:off x="0" y="4209047"/>
            <a:ext cx="11980506" cy="1714380"/>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dirty="0"/>
              <a:t>These highly active customers represent valuable repeat buyers and should be targeted through </a:t>
            </a:r>
            <a:r>
              <a:rPr lang="en-US" b="1" dirty="0"/>
              <a:t>loyalty programs, personalized offers, and exclusive rewards</a:t>
            </a:r>
            <a:r>
              <a:rPr lang="en-US" dirty="0"/>
              <a:t>. </a:t>
            </a:r>
          </a:p>
          <a:p>
            <a:pPr marL="285750" indent="-285750" algn="just">
              <a:lnSpc>
                <a:spcPct val="150000"/>
              </a:lnSpc>
              <a:buFont typeface="Wingdings" panose="05000000000000000000" pitchFamily="2" charset="2"/>
              <a:buChar char="q"/>
            </a:pPr>
            <a:r>
              <a:rPr lang="en-US" dirty="0"/>
              <a:t>Understanding the purchasing behavior of these customers can help improve customer retention and maximize lifetime value. </a:t>
            </a:r>
          </a:p>
        </p:txBody>
      </p:sp>
    </p:spTree>
    <p:extLst>
      <p:ext uri="{BB962C8B-B14F-4D97-AF65-F5344CB8AC3E}">
        <p14:creationId xmlns:p14="http://schemas.microsoft.com/office/powerpoint/2010/main" val="2279481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7C1934E-2FBF-877C-C92B-5CE0A57471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787399"/>
            <a:ext cx="6096000" cy="2954177"/>
          </a:xfrm>
        </p:spPr>
      </p:pic>
      <p:sp>
        <p:nvSpPr>
          <p:cNvPr id="4" name="Title 1">
            <a:extLst>
              <a:ext uri="{FF2B5EF4-FFF2-40B4-BE49-F238E27FC236}">
                <a16:creationId xmlns:a16="http://schemas.microsoft.com/office/drawing/2014/main" id="{4CF6091B-7CEA-C19D-7697-EE2E3E3E4F3F}"/>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Products belonging to each Products &amp; Department</a:t>
            </a:r>
          </a:p>
        </p:txBody>
      </p:sp>
      <p:sp>
        <p:nvSpPr>
          <p:cNvPr id="7" name="Rectangle 1">
            <a:extLst>
              <a:ext uri="{FF2B5EF4-FFF2-40B4-BE49-F238E27FC236}">
                <a16:creationId xmlns:a16="http://schemas.microsoft.com/office/drawing/2014/main" id="{720B04F2-3674-2296-2885-7519E6A42EDE}"/>
              </a:ext>
            </a:extLst>
          </p:cNvPr>
          <p:cNvSpPr>
            <a:spLocks noChangeArrowheads="1"/>
          </p:cNvSpPr>
          <p:nvPr/>
        </p:nvSpPr>
        <p:spPr bwMode="auto">
          <a:xfrm>
            <a:off x="6030686" y="756474"/>
            <a:ext cx="5868955" cy="2672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contains </a:t>
            </a:r>
            <a:r>
              <a:rPr kumimoji="0" lang="en-US" altLang="en-US" sz="1800" b="1" i="0" u="none" strike="noStrike" cap="none" normalizeH="0" baseline="0" dirty="0">
                <a:ln>
                  <a:noFill/>
                </a:ln>
                <a:solidFill>
                  <a:schemeClr val="tx1"/>
                </a:solidFill>
                <a:effectLst/>
                <a:latin typeface="Arial" panose="020B0604020202020204" pitchFamily="34" charset="0"/>
              </a:rPr>
              <a:t>49,355 products</a:t>
            </a:r>
            <a:r>
              <a:rPr kumimoji="0" lang="en-US" altLang="en-US" sz="1800" b="0" i="0" u="none" strike="noStrike" cap="none" normalizeH="0" baseline="0" dirty="0">
                <a:ln>
                  <a:noFill/>
                </a:ln>
                <a:solidFill>
                  <a:schemeClr val="tx1"/>
                </a:solidFill>
                <a:effectLst/>
                <a:latin typeface="Arial" panose="020B0604020202020204" pitchFamily="34" charset="0"/>
              </a:rPr>
              <a:t> distributed across multiple departments and aisles.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Personal Care</a:t>
            </a:r>
            <a:r>
              <a:rPr kumimoji="0" lang="en-US" altLang="en-US" sz="1800" b="0" i="0" u="none" strike="noStrike" cap="none" normalizeH="0" baseline="0" dirty="0">
                <a:ln>
                  <a:noFill/>
                </a:ln>
                <a:solidFill>
                  <a:schemeClr val="tx1"/>
                </a:solidFill>
                <a:effectLst/>
                <a:latin typeface="Arial" panose="020B0604020202020204" pitchFamily="34" charset="0"/>
              </a:rPr>
              <a:t> has the product assortment (</a:t>
            </a:r>
            <a:r>
              <a:rPr kumimoji="0" lang="en-US" altLang="en-US" sz="1800" b="1" i="0" u="none" strike="noStrike" cap="none" normalizeH="0" baseline="0" dirty="0">
                <a:ln>
                  <a:noFill/>
                </a:ln>
                <a:solidFill>
                  <a:schemeClr val="tx1"/>
                </a:solidFill>
                <a:effectLst/>
                <a:latin typeface="Arial" panose="020B0604020202020204" pitchFamily="34" charset="0"/>
              </a:rPr>
              <a:t>6,524 products</a:t>
            </a:r>
            <a:r>
              <a:rPr kumimoji="0" lang="en-US" altLang="en-US" sz="1800" b="0" i="0" u="none" strike="noStrike" cap="none" normalizeH="0" baseline="0" dirty="0">
                <a:ln>
                  <a:noFill/>
                </a:ln>
                <a:solidFill>
                  <a:schemeClr val="tx1"/>
                </a:solidFill>
                <a:effectLst/>
                <a:latin typeface="Arial" panose="020B0604020202020204" pitchFamily="34" charset="0"/>
              </a:rPr>
              <a:t>), followed by </a:t>
            </a:r>
            <a:r>
              <a:rPr kumimoji="0" lang="en-US" altLang="en-US" sz="1800" b="1" i="0" u="none" strike="noStrike" cap="none" normalizeH="0" baseline="0" dirty="0">
                <a:ln>
                  <a:noFill/>
                </a:ln>
                <a:solidFill>
                  <a:schemeClr val="tx1"/>
                </a:solidFill>
                <a:effectLst/>
                <a:latin typeface="Arial" panose="020B0604020202020204" pitchFamily="34" charset="0"/>
              </a:rPr>
              <a:t>Snacks (6,221)</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Pantry (5,331)</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11" name="TextBox 10">
            <a:extLst>
              <a:ext uri="{FF2B5EF4-FFF2-40B4-BE49-F238E27FC236}">
                <a16:creationId xmlns:a16="http://schemas.microsoft.com/office/drawing/2014/main" id="{BFB690EF-24CD-6248-BC52-619844AEE76A}"/>
              </a:ext>
            </a:extLst>
          </p:cNvPr>
          <p:cNvSpPr txBox="1"/>
          <p:nvPr/>
        </p:nvSpPr>
        <p:spPr>
          <a:xfrm>
            <a:off x="-28769" y="3611466"/>
            <a:ext cx="11928409" cy="2949525"/>
          </a:xfrm>
          <a:prstGeom prst="rect">
            <a:avLst/>
          </a:prstGeom>
          <a:noFill/>
        </p:spPr>
        <p:txBody>
          <a:bodyPr wrap="square">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Frozen (3,982)</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Dairy &amp; Eggs (3,428)</a:t>
            </a:r>
            <a:r>
              <a:rPr kumimoji="0" lang="en-US" altLang="en-US" sz="1800" b="0" i="0" u="none" strike="noStrike" cap="none" normalizeH="0" baseline="0" dirty="0">
                <a:ln>
                  <a:noFill/>
                </a:ln>
                <a:solidFill>
                  <a:schemeClr val="tx1"/>
                </a:solidFill>
                <a:effectLst/>
                <a:latin typeface="Arial" panose="020B0604020202020204" pitchFamily="34" charset="0"/>
              </a:rPr>
              <a:t> also have a wide range of products, reflecting diverse customer choices.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Departments such as </a:t>
            </a:r>
            <a:r>
              <a:rPr kumimoji="0" lang="en-US" altLang="en-US" sz="1800" b="1" i="0" u="none" strike="noStrike" cap="none" normalizeH="0" baseline="0" dirty="0">
                <a:ln>
                  <a:noFill/>
                </a:ln>
                <a:solidFill>
                  <a:schemeClr val="tx1"/>
                </a:solidFill>
                <a:effectLst/>
                <a:latin typeface="Arial" panose="020B0604020202020204" pitchFamily="34" charset="0"/>
              </a:rPr>
              <a:t>Meat &amp; Seafood (903)</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Other (543)</a:t>
            </a:r>
            <a:r>
              <a:rPr kumimoji="0" lang="en-US" altLang="en-US" sz="1800" b="0" i="0" u="none" strike="noStrike" cap="none" normalizeH="0" baseline="0" dirty="0">
                <a:ln>
                  <a:noFill/>
                </a:ln>
                <a:solidFill>
                  <a:schemeClr val="tx1"/>
                </a:solidFill>
                <a:effectLst/>
                <a:latin typeface="Arial" panose="020B0604020202020204" pitchFamily="34" charset="0"/>
              </a:rPr>
              <a:t> contain comparatively fewer products.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At the aisle level, </a:t>
            </a:r>
            <a:r>
              <a:rPr kumimoji="0" lang="en-US" altLang="en-US" sz="1800" b="1" i="0" u="none" strike="noStrike" cap="none" normalizeH="0" baseline="0" dirty="0">
                <a:ln>
                  <a:noFill/>
                </a:ln>
                <a:solidFill>
                  <a:schemeClr val="tx1"/>
                </a:solidFill>
                <a:effectLst/>
                <a:latin typeface="Arial" panose="020B0604020202020204" pitchFamily="34" charset="0"/>
              </a:rPr>
              <a:t>Vitamins &amp; Supplements (1,030)</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Yogurt (1,023)</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Tea (887)</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Spices &amp; Seasonings (790)</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Soup Broth &amp; Bouillon (727)</a:t>
            </a:r>
            <a:r>
              <a:rPr kumimoji="0" lang="en-US" altLang="en-US" sz="1800" b="0" i="0" u="none" strike="noStrike" cap="none" normalizeH="0" baseline="0" dirty="0">
                <a:ln>
                  <a:noFill/>
                </a:ln>
                <a:solidFill>
                  <a:schemeClr val="tx1"/>
                </a:solidFill>
                <a:effectLst/>
                <a:latin typeface="Arial" panose="020B0604020202020204" pitchFamily="34" charset="0"/>
              </a:rPr>
              <a:t> have the highest number of products.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Product assortment information can help optimize </a:t>
            </a:r>
            <a:r>
              <a:rPr kumimoji="0" lang="en-US" altLang="en-US" sz="1800" b="1" i="0" u="none" strike="noStrike" cap="none" normalizeH="0" baseline="0" dirty="0">
                <a:ln>
                  <a:noFill/>
                </a:ln>
                <a:solidFill>
                  <a:schemeClr val="tx1"/>
                </a:solidFill>
                <a:effectLst/>
                <a:latin typeface="Arial" panose="020B0604020202020204" pitchFamily="34" charset="0"/>
              </a:rPr>
              <a:t>inventory management, shelf allocation, and category planning</a:t>
            </a:r>
            <a:r>
              <a:rPr kumimoji="0" lang="en-US" altLang="en-US" sz="1800" b="0" i="0" u="none" strike="noStrike" cap="none" normalizeH="0" baseline="0" dirty="0">
                <a:ln>
                  <a:noFill/>
                </a:ln>
                <a:solidFill>
                  <a:schemeClr val="tx1"/>
                </a:solidFill>
                <a:effectLst/>
                <a:latin typeface="Arial" panose="020B0604020202020204" pitchFamily="34" charset="0"/>
              </a:rPr>
              <a:t> by identifying departments with the largest and smallest product ranges. </a:t>
            </a:r>
          </a:p>
        </p:txBody>
      </p:sp>
    </p:spTree>
    <p:extLst>
      <p:ext uri="{BB962C8B-B14F-4D97-AF65-F5344CB8AC3E}">
        <p14:creationId xmlns:p14="http://schemas.microsoft.com/office/powerpoint/2010/main" val="1685831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C38252F-CD1E-92E5-BCBC-984BE1BCECE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790"/>
          <a:stretch/>
        </p:blipFill>
        <p:spPr>
          <a:xfrm>
            <a:off x="-1" y="787399"/>
            <a:ext cx="12191999" cy="6070602"/>
          </a:xfrm>
        </p:spPr>
      </p:pic>
      <p:sp>
        <p:nvSpPr>
          <p:cNvPr id="5" name="Title 1">
            <a:extLst>
              <a:ext uri="{FF2B5EF4-FFF2-40B4-BE49-F238E27FC236}">
                <a16:creationId xmlns:a16="http://schemas.microsoft.com/office/drawing/2014/main" id="{7B29B2F9-2FA5-1687-13C6-FC6A9D7E177F}"/>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Executive Overview Dashboard</a:t>
            </a:r>
          </a:p>
        </p:txBody>
      </p:sp>
    </p:spTree>
    <p:extLst>
      <p:ext uri="{BB962C8B-B14F-4D97-AF65-F5344CB8AC3E}">
        <p14:creationId xmlns:p14="http://schemas.microsoft.com/office/powerpoint/2010/main" val="1010501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C04D3DF-08C0-342C-1008-A988C469CABF}"/>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Executive Overview Dashboard(Insights)</a:t>
            </a:r>
          </a:p>
        </p:txBody>
      </p:sp>
      <p:sp>
        <p:nvSpPr>
          <p:cNvPr id="5" name="Rectangle 1">
            <a:extLst>
              <a:ext uri="{FF2B5EF4-FFF2-40B4-BE49-F238E27FC236}">
                <a16:creationId xmlns:a16="http://schemas.microsoft.com/office/drawing/2014/main" id="{BC67EC1D-7673-4481-F504-983CC25E05A0}"/>
              </a:ext>
            </a:extLst>
          </p:cNvPr>
          <p:cNvSpPr>
            <a:spLocks noChangeArrowheads="1"/>
          </p:cNvSpPr>
          <p:nvPr/>
        </p:nvSpPr>
        <p:spPr bwMode="auto">
          <a:xfrm>
            <a:off x="0" y="787399"/>
            <a:ext cx="12192000" cy="5581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business has a </a:t>
            </a:r>
            <a:r>
              <a:rPr kumimoji="0" lang="en-US" altLang="en-US" sz="1800" b="1" i="0" u="none" strike="noStrike" cap="none" normalizeH="0" baseline="0" dirty="0">
                <a:ln>
                  <a:noFill/>
                </a:ln>
                <a:solidFill>
                  <a:schemeClr val="tx1"/>
                </a:solidFill>
                <a:effectLst/>
                <a:latin typeface="Arial" panose="020B0604020202020204" pitchFamily="34" charset="0"/>
              </a:rPr>
              <a:t>strong customer base of 63K unique users</a:t>
            </a:r>
            <a:r>
              <a:rPr kumimoji="0" lang="en-US" altLang="en-US" sz="1800" b="0" i="0" u="none" strike="noStrike" cap="none" normalizeH="0" baseline="0" dirty="0">
                <a:ln>
                  <a:noFill/>
                </a:ln>
                <a:solidFill>
                  <a:schemeClr val="tx1"/>
                </a:solidFill>
                <a:effectLst/>
                <a:latin typeface="Arial" panose="020B0604020202020204" pitchFamily="34" charset="0"/>
              </a:rPr>
              <a:t>, who have placed </a:t>
            </a:r>
            <a:r>
              <a:rPr kumimoji="0" lang="en-US" altLang="en-US" sz="1800" b="1" i="0" u="none" strike="noStrike" cap="none" normalizeH="0" baseline="0" dirty="0">
                <a:ln>
                  <a:noFill/>
                </a:ln>
                <a:solidFill>
                  <a:schemeClr val="tx1"/>
                </a:solidFill>
                <a:effectLst/>
                <a:latin typeface="Arial" panose="020B0604020202020204" pitchFamily="34" charset="0"/>
              </a:rPr>
              <a:t>1.049 million orders</a:t>
            </a:r>
            <a:r>
              <a:rPr kumimoji="0" lang="en-US" altLang="en-US" sz="1800" b="0" i="0" u="none" strike="noStrike" cap="none" normalizeH="0" baseline="0" dirty="0">
                <a:ln>
                  <a:noFill/>
                </a:ln>
                <a:solidFill>
                  <a:schemeClr val="tx1"/>
                </a:solidFill>
                <a:effectLst/>
                <a:latin typeface="Arial" panose="020B0604020202020204" pitchFamily="34" charset="0"/>
              </a:rPr>
              <a:t>, reflecting high customer engagement and consistent demand.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Out of the total orders, </a:t>
            </a:r>
            <a:r>
              <a:rPr kumimoji="0" lang="en-US" altLang="en-US" sz="1800" b="1" i="0" u="none" strike="noStrike" cap="none" normalizeH="0" baseline="0" dirty="0">
                <a:ln>
                  <a:noFill/>
                </a:ln>
                <a:solidFill>
                  <a:schemeClr val="tx1"/>
                </a:solidFill>
                <a:effectLst/>
                <a:latin typeface="Arial" panose="020B0604020202020204" pitchFamily="34" charset="0"/>
              </a:rPr>
              <a:t>628K are repeat orders</a:t>
            </a:r>
            <a:r>
              <a:rPr kumimoji="0" lang="en-US" altLang="en-US" sz="1800" b="0" i="0" u="none" strike="noStrike" cap="none" normalizeH="0" baseline="0" dirty="0">
                <a:ln>
                  <a:noFill/>
                </a:ln>
                <a:solidFill>
                  <a:schemeClr val="tx1"/>
                </a:solidFill>
                <a:effectLst/>
                <a:latin typeface="Arial" panose="020B0604020202020204" pitchFamily="34" charset="0"/>
              </a:rPr>
              <a:t>, indicating strong customer loyalty and a high rate of repeat purchases.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product catalog consists of </a:t>
            </a:r>
            <a:r>
              <a:rPr kumimoji="0" lang="en-US" altLang="en-US" sz="1800" b="1" i="0" u="none" strike="noStrike" cap="none" normalizeH="0" baseline="0" dirty="0">
                <a:ln>
                  <a:noFill/>
                </a:ln>
                <a:solidFill>
                  <a:schemeClr val="tx1"/>
                </a:solidFill>
                <a:effectLst/>
                <a:latin typeface="Arial" panose="020B0604020202020204" pitchFamily="34" charset="0"/>
              </a:rPr>
              <a:t>49K products</a:t>
            </a:r>
            <a:r>
              <a:rPr kumimoji="0" lang="en-US" altLang="en-US" sz="1800" b="0" i="0" u="none" strike="noStrike" cap="none" normalizeH="0" baseline="0" dirty="0">
                <a:ln>
                  <a:noFill/>
                </a:ln>
                <a:solidFill>
                  <a:schemeClr val="tx1"/>
                </a:solidFill>
                <a:effectLst/>
                <a:latin typeface="Arial" panose="020B0604020202020204" pitchFamily="34" charset="0"/>
              </a:rPr>
              <a:t> spread across </a:t>
            </a:r>
            <a:r>
              <a:rPr kumimoji="0" lang="en-US" altLang="en-US" sz="1800" b="1" i="0" u="none" strike="noStrike" cap="none" normalizeH="0" baseline="0" dirty="0">
                <a:ln>
                  <a:noFill/>
                </a:ln>
                <a:solidFill>
                  <a:schemeClr val="tx1"/>
                </a:solidFill>
                <a:effectLst/>
                <a:latin typeface="Arial" panose="020B0604020202020204" pitchFamily="34" charset="0"/>
              </a:rPr>
              <a:t>21 departments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134 aisles</a:t>
            </a:r>
            <a:r>
              <a:rPr kumimoji="0" lang="en-US" altLang="en-US" sz="1800" b="0" i="0" u="none" strike="noStrike" cap="none" normalizeH="0" baseline="0" dirty="0">
                <a:ln>
                  <a:noFill/>
                </a:ln>
                <a:solidFill>
                  <a:schemeClr val="tx1"/>
                </a:solidFill>
                <a:effectLst/>
                <a:latin typeface="Arial" panose="020B0604020202020204" pitchFamily="34" charset="0"/>
              </a:rPr>
              <a:t>, offering customers a wide variety of products.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Personal Care (6.52K products), Snacks (6.22K), and Pantry (5.33K)</a:t>
            </a:r>
            <a:r>
              <a:rPr kumimoji="0" lang="en-US" altLang="en-US" sz="1800" b="0" i="0" u="none" strike="noStrike" cap="none" normalizeH="0" baseline="0" dirty="0">
                <a:ln>
                  <a:noFill/>
                </a:ln>
                <a:solidFill>
                  <a:schemeClr val="tx1"/>
                </a:solidFill>
                <a:effectLst/>
                <a:latin typeface="Arial" panose="020B0604020202020204" pitchFamily="34" charset="0"/>
              </a:rPr>
              <a:t> are the largest departments by product count, showing that these categories have the widest assortment.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"Missing" aisle</a:t>
            </a:r>
            <a:r>
              <a:rPr kumimoji="0" lang="en-US" altLang="en-US" sz="1800" b="0" i="0" u="none" strike="noStrike" cap="none" normalizeH="0" baseline="0" dirty="0">
                <a:ln>
                  <a:noFill/>
                </a:ln>
                <a:solidFill>
                  <a:schemeClr val="tx1"/>
                </a:solidFill>
                <a:effectLst/>
                <a:latin typeface="Arial" panose="020B0604020202020204" pitchFamily="34" charset="0"/>
              </a:rPr>
              <a:t> contains the highest number of products, suggesting that some products are not properly categorized and require data cleaning for more accurate reporting.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extensive product range across major departments enables customers to complete most of their shopping in a single platform, supporting convenience and customer satisfaction. </a:t>
            </a:r>
          </a:p>
        </p:txBody>
      </p:sp>
    </p:spTree>
    <p:extLst>
      <p:ext uri="{BB962C8B-B14F-4D97-AF65-F5344CB8AC3E}">
        <p14:creationId xmlns:p14="http://schemas.microsoft.com/office/powerpoint/2010/main" val="3433609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3B85916-937B-3E5D-666A-979C9CBE6228}"/>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Executive Overview Dashboard(Recommendation)</a:t>
            </a:r>
          </a:p>
        </p:txBody>
      </p:sp>
      <p:sp>
        <p:nvSpPr>
          <p:cNvPr id="17" name="TextBox 16">
            <a:extLst>
              <a:ext uri="{FF2B5EF4-FFF2-40B4-BE49-F238E27FC236}">
                <a16:creationId xmlns:a16="http://schemas.microsoft.com/office/drawing/2014/main" id="{A68C364E-6C38-E62D-74EA-7E615888B6F2}"/>
              </a:ext>
            </a:extLst>
          </p:cNvPr>
          <p:cNvSpPr txBox="1"/>
          <p:nvPr/>
        </p:nvSpPr>
        <p:spPr>
          <a:xfrm>
            <a:off x="0" y="871061"/>
            <a:ext cx="12192000" cy="1745158"/>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Recommendations:</a:t>
            </a:r>
          </a:p>
          <a:p>
            <a:endParaRPr lang="en-US" b="1" dirty="0"/>
          </a:p>
          <a:p>
            <a:r>
              <a:rPr lang="en-US" b="1" dirty="0">
                <a:solidFill>
                  <a:schemeClr val="accent1">
                    <a:lumMod val="60000"/>
                    <a:lumOff val="40000"/>
                  </a:schemeClr>
                </a:solidFill>
              </a:rPr>
              <a:t>Customer Strategy</a:t>
            </a:r>
          </a:p>
          <a:p>
            <a:pPr marL="285750" indent="-285750" algn="just">
              <a:lnSpc>
                <a:spcPct val="150000"/>
              </a:lnSpc>
              <a:buFont typeface="Wingdings" panose="05000000000000000000" pitchFamily="2" charset="2"/>
              <a:buChar char="Ø"/>
            </a:pPr>
            <a:r>
              <a:rPr lang="en-US" dirty="0"/>
              <a:t>Strengthen customer retention programs to encourage more repeat purchases from the existing </a:t>
            </a:r>
            <a:r>
              <a:rPr lang="en-US" b="1" dirty="0"/>
              <a:t>63K users</a:t>
            </a:r>
            <a:r>
              <a:rPr lang="en-US" dirty="0"/>
              <a:t>. </a:t>
            </a:r>
          </a:p>
          <a:p>
            <a:pPr marL="285750" indent="-285750" algn="just">
              <a:lnSpc>
                <a:spcPct val="150000"/>
              </a:lnSpc>
              <a:buFont typeface="Wingdings" panose="05000000000000000000" pitchFamily="2" charset="2"/>
              <a:buChar char="Ø"/>
            </a:pPr>
            <a:r>
              <a:rPr lang="en-US" dirty="0"/>
              <a:t>Introduce personalized product recommendations based on previous purchase history.</a:t>
            </a:r>
          </a:p>
        </p:txBody>
      </p:sp>
      <p:sp>
        <p:nvSpPr>
          <p:cNvPr id="19" name="TextBox 18">
            <a:extLst>
              <a:ext uri="{FF2B5EF4-FFF2-40B4-BE49-F238E27FC236}">
                <a16:creationId xmlns:a16="http://schemas.microsoft.com/office/drawing/2014/main" id="{11E3761A-5F91-3B93-7997-861C99DDDC89}"/>
              </a:ext>
            </a:extLst>
          </p:cNvPr>
          <p:cNvSpPr txBox="1"/>
          <p:nvPr/>
        </p:nvSpPr>
        <p:spPr>
          <a:xfrm>
            <a:off x="0" y="2749065"/>
            <a:ext cx="12192000" cy="3237874"/>
          </a:xfrm>
          <a:prstGeom prst="rect">
            <a:avLst/>
          </a:prstGeom>
          <a:noFill/>
        </p:spPr>
        <p:txBody>
          <a:bodyPr wrap="square">
            <a:spAutoFit/>
          </a:bodyPr>
          <a:lstStyle/>
          <a:p>
            <a:r>
              <a:rPr lang="en-US" b="1" dirty="0">
                <a:solidFill>
                  <a:schemeClr val="accent1">
                    <a:lumMod val="60000"/>
                    <a:lumOff val="40000"/>
                  </a:schemeClr>
                </a:solidFill>
              </a:rPr>
              <a:t>Inventory Management</a:t>
            </a:r>
          </a:p>
          <a:p>
            <a:pPr marL="285750" indent="-285750" algn="just">
              <a:lnSpc>
                <a:spcPct val="150000"/>
              </a:lnSpc>
              <a:buFont typeface="Wingdings" panose="05000000000000000000" pitchFamily="2" charset="2"/>
              <a:buChar char="Ø"/>
            </a:pPr>
            <a:r>
              <a:rPr lang="en-US" dirty="0"/>
              <a:t>Maintain higher inventory levels in departments with the largest demand, such as: </a:t>
            </a:r>
          </a:p>
          <a:p>
            <a:pPr marL="742950" lvl="1" indent="-285750" algn="just">
              <a:lnSpc>
                <a:spcPct val="150000"/>
              </a:lnSpc>
              <a:buFont typeface="Wingdings" panose="05000000000000000000" pitchFamily="2" charset="2"/>
              <a:buChar char="Ø"/>
            </a:pPr>
            <a:r>
              <a:rPr lang="en-US" dirty="0"/>
              <a:t>Personal Care </a:t>
            </a:r>
          </a:p>
          <a:p>
            <a:pPr marL="742950" lvl="1" indent="-285750" algn="just">
              <a:lnSpc>
                <a:spcPct val="150000"/>
              </a:lnSpc>
              <a:buFont typeface="Wingdings" panose="05000000000000000000" pitchFamily="2" charset="2"/>
              <a:buChar char="Ø"/>
            </a:pPr>
            <a:r>
              <a:rPr lang="en-US" dirty="0"/>
              <a:t>Snacks </a:t>
            </a:r>
          </a:p>
          <a:p>
            <a:pPr marL="742950" lvl="1" indent="-285750" algn="just">
              <a:lnSpc>
                <a:spcPct val="150000"/>
              </a:lnSpc>
              <a:buFont typeface="Wingdings" panose="05000000000000000000" pitchFamily="2" charset="2"/>
              <a:buChar char="Ø"/>
            </a:pPr>
            <a:r>
              <a:rPr lang="en-US" dirty="0"/>
              <a:t>Pantry </a:t>
            </a:r>
          </a:p>
          <a:p>
            <a:pPr marL="742950" lvl="1" indent="-285750" algn="just">
              <a:lnSpc>
                <a:spcPct val="150000"/>
              </a:lnSpc>
              <a:buFont typeface="Wingdings" panose="05000000000000000000" pitchFamily="2" charset="2"/>
              <a:buChar char="Ø"/>
            </a:pPr>
            <a:r>
              <a:rPr lang="en-US" dirty="0"/>
              <a:t>Beverages </a:t>
            </a:r>
          </a:p>
          <a:p>
            <a:pPr marL="742950" lvl="1" indent="-285750" algn="just">
              <a:lnSpc>
                <a:spcPct val="150000"/>
              </a:lnSpc>
              <a:buFont typeface="Wingdings" panose="05000000000000000000" pitchFamily="2" charset="2"/>
              <a:buChar char="Ø"/>
            </a:pPr>
            <a:r>
              <a:rPr lang="en-US" dirty="0"/>
              <a:t>Frozen </a:t>
            </a:r>
          </a:p>
          <a:p>
            <a:pPr marL="285750" indent="-285750" algn="just">
              <a:lnSpc>
                <a:spcPct val="150000"/>
              </a:lnSpc>
              <a:buFont typeface="Wingdings" panose="05000000000000000000" pitchFamily="2" charset="2"/>
              <a:buChar char="Ø"/>
            </a:pPr>
            <a:r>
              <a:rPr lang="en-US" dirty="0"/>
              <a:t>Regularly monitor stock levels of high-demand products to prevent stock-outs.</a:t>
            </a:r>
          </a:p>
        </p:txBody>
      </p:sp>
    </p:spTree>
    <p:extLst>
      <p:ext uri="{BB962C8B-B14F-4D97-AF65-F5344CB8AC3E}">
        <p14:creationId xmlns:p14="http://schemas.microsoft.com/office/powerpoint/2010/main" val="3493161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0ACD190-3B62-A072-1F18-72F20A0D72F3}"/>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Executive Overview Dashboard(Recommendation)</a:t>
            </a:r>
          </a:p>
        </p:txBody>
      </p:sp>
      <p:sp>
        <p:nvSpPr>
          <p:cNvPr id="6" name="TextBox 5">
            <a:extLst>
              <a:ext uri="{FF2B5EF4-FFF2-40B4-BE49-F238E27FC236}">
                <a16:creationId xmlns:a16="http://schemas.microsoft.com/office/drawing/2014/main" id="{3C4F6F2F-2B0F-4099-B789-6CE5F8DBA161}"/>
              </a:ext>
            </a:extLst>
          </p:cNvPr>
          <p:cNvSpPr txBox="1"/>
          <p:nvPr/>
        </p:nvSpPr>
        <p:spPr>
          <a:xfrm>
            <a:off x="0" y="787399"/>
            <a:ext cx="12192000" cy="1575881"/>
          </a:xfrm>
          <a:prstGeom prst="rect">
            <a:avLst/>
          </a:prstGeom>
          <a:noFill/>
        </p:spPr>
        <p:txBody>
          <a:bodyPr wrap="square">
            <a:spAutoFit/>
          </a:bodyPr>
          <a:lstStyle/>
          <a:p>
            <a:r>
              <a:rPr lang="en-US" b="1" dirty="0">
                <a:solidFill>
                  <a:schemeClr val="accent1">
                    <a:lumMod val="60000"/>
                    <a:lumOff val="40000"/>
                  </a:schemeClr>
                </a:solidFill>
                <a:latin typeface="Arial" panose="020B0604020202020204" pitchFamily="34" charset="0"/>
                <a:cs typeface="Arial" panose="020B0604020202020204" pitchFamily="34" charset="0"/>
              </a:rPr>
              <a:t>Category Management</a:t>
            </a:r>
          </a:p>
          <a:p>
            <a:pPr marL="285750" indent="-285750" algn="just">
              <a:lnSpc>
                <a:spcPct val="150000"/>
              </a:lnSpc>
              <a:buFont typeface="Wingdings" panose="05000000000000000000" pitchFamily="2" charset="2"/>
              <a:buChar char="Ø"/>
            </a:pPr>
            <a:r>
              <a:rPr lang="en-US" dirty="0"/>
              <a:t>Optimize shelf space and warehouse allocation for departments with the largest product assortments. </a:t>
            </a:r>
          </a:p>
          <a:p>
            <a:pPr marL="285750" indent="-285750" algn="just">
              <a:lnSpc>
                <a:spcPct val="150000"/>
              </a:lnSpc>
              <a:buFont typeface="Wingdings" panose="05000000000000000000" pitchFamily="2" charset="2"/>
              <a:buChar char="Ø"/>
            </a:pPr>
            <a:r>
              <a:rPr lang="en-US" dirty="0"/>
              <a:t>Review departments with smaller assortments to determine whether additional products could improve customer choice. </a:t>
            </a:r>
          </a:p>
        </p:txBody>
      </p:sp>
      <p:sp>
        <p:nvSpPr>
          <p:cNvPr id="8" name="TextBox 7">
            <a:extLst>
              <a:ext uri="{FF2B5EF4-FFF2-40B4-BE49-F238E27FC236}">
                <a16:creationId xmlns:a16="http://schemas.microsoft.com/office/drawing/2014/main" id="{0A68C219-8CDA-DA2B-193C-989F6A7E08C8}"/>
              </a:ext>
            </a:extLst>
          </p:cNvPr>
          <p:cNvSpPr txBox="1"/>
          <p:nvPr/>
        </p:nvSpPr>
        <p:spPr>
          <a:xfrm>
            <a:off x="0" y="2437925"/>
            <a:ext cx="12192000" cy="1160382"/>
          </a:xfrm>
          <a:prstGeom prst="rect">
            <a:avLst/>
          </a:prstGeom>
          <a:noFill/>
        </p:spPr>
        <p:txBody>
          <a:bodyPr wrap="square">
            <a:spAutoFit/>
          </a:bodyPr>
          <a:lstStyle/>
          <a:p>
            <a:r>
              <a:rPr lang="en-US" b="1" dirty="0">
                <a:solidFill>
                  <a:schemeClr val="accent1">
                    <a:lumMod val="60000"/>
                    <a:lumOff val="40000"/>
                  </a:schemeClr>
                </a:solidFill>
                <a:latin typeface="Arial" panose="020B0604020202020204" pitchFamily="34" charset="0"/>
                <a:cs typeface="Arial" panose="020B0604020202020204" pitchFamily="34" charset="0"/>
              </a:rPr>
              <a:t>Data Quality</a:t>
            </a:r>
          </a:p>
          <a:p>
            <a:pPr marL="285750" indent="-285750" algn="just">
              <a:lnSpc>
                <a:spcPct val="150000"/>
              </a:lnSpc>
              <a:buFont typeface="Wingdings" panose="05000000000000000000" pitchFamily="2" charset="2"/>
              <a:buChar char="Ø"/>
            </a:pPr>
            <a:r>
              <a:rPr lang="en-US" dirty="0"/>
              <a:t>Investigate and resolve the </a:t>
            </a:r>
            <a:r>
              <a:rPr lang="en-US" b="1" dirty="0"/>
              <a:t>"Missing" aisle</a:t>
            </a:r>
            <a:r>
              <a:rPr lang="en-US" dirty="0"/>
              <a:t> category by assigning products to their correct aisles. </a:t>
            </a:r>
          </a:p>
          <a:p>
            <a:pPr marL="285750" indent="-285750" algn="just">
              <a:lnSpc>
                <a:spcPct val="150000"/>
              </a:lnSpc>
              <a:buFont typeface="Wingdings" panose="05000000000000000000" pitchFamily="2" charset="2"/>
              <a:buChar char="Ø"/>
            </a:pPr>
            <a:r>
              <a:rPr lang="en-US" dirty="0"/>
              <a:t>Improving data accuracy will lead to better reporting and more reliable business decisions.</a:t>
            </a:r>
          </a:p>
        </p:txBody>
      </p:sp>
      <p:sp>
        <p:nvSpPr>
          <p:cNvPr id="10" name="TextBox 9">
            <a:extLst>
              <a:ext uri="{FF2B5EF4-FFF2-40B4-BE49-F238E27FC236}">
                <a16:creationId xmlns:a16="http://schemas.microsoft.com/office/drawing/2014/main" id="{10DF94A1-5BC8-6B80-6608-22B18287F591}"/>
              </a:ext>
            </a:extLst>
          </p:cNvPr>
          <p:cNvSpPr txBox="1"/>
          <p:nvPr/>
        </p:nvSpPr>
        <p:spPr>
          <a:xfrm>
            <a:off x="0" y="3747596"/>
            <a:ext cx="12191999" cy="1575881"/>
          </a:xfrm>
          <a:prstGeom prst="rect">
            <a:avLst/>
          </a:prstGeom>
          <a:noFill/>
        </p:spPr>
        <p:txBody>
          <a:bodyPr wrap="square">
            <a:spAutoFit/>
          </a:bodyPr>
          <a:lstStyle/>
          <a:p>
            <a:r>
              <a:rPr lang="en-US" b="1" dirty="0">
                <a:solidFill>
                  <a:schemeClr val="accent1">
                    <a:lumMod val="60000"/>
                    <a:lumOff val="40000"/>
                  </a:schemeClr>
                </a:solidFill>
                <a:latin typeface="Arial" panose="020B0604020202020204" pitchFamily="34" charset="0"/>
                <a:cs typeface="Arial" panose="020B0604020202020204" pitchFamily="34" charset="0"/>
              </a:rPr>
              <a:t>Marketing Strategy</a:t>
            </a:r>
          </a:p>
          <a:p>
            <a:pPr marL="285750" indent="-285750" algn="just">
              <a:lnSpc>
                <a:spcPct val="150000"/>
              </a:lnSpc>
              <a:buFont typeface="Wingdings" panose="05000000000000000000" pitchFamily="2" charset="2"/>
              <a:buChar char="Ø"/>
            </a:pPr>
            <a:r>
              <a:rPr lang="en-US" dirty="0"/>
              <a:t>Promote products from high-performing departments through targeted campaigns. </a:t>
            </a:r>
          </a:p>
          <a:p>
            <a:pPr marL="285750" indent="-285750" algn="just">
              <a:lnSpc>
                <a:spcPct val="150000"/>
              </a:lnSpc>
              <a:buFont typeface="Wingdings" panose="05000000000000000000" pitchFamily="2" charset="2"/>
              <a:buChar char="Ø"/>
            </a:pPr>
            <a:r>
              <a:rPr lang="en-US" dirty="0"/>
              <a:t>Bundle complementary products (e.g., snacks with beverages or pantry items) to increase average order value. </a:t>
            </a:r>
          </a:p>
          <a:p>
            <a:pPr marL="285750" indent="-285750" algn="just">
              <a:lnSpc>
                <a:spcPct val="150000"/>
              </a:lnSpc>
              <a:buFont typeface="Wingdings" panose="05000000000000000000" pitchFamily="2" charset="2"/>
              <a:buChar char="Ø"/>
            </a:pPr>
            <a:r>
              <a:rPr lang="en-US" dirty="0"/>
              <a:t>Launch promotional campaigns for lower-performing departments to improve visibility and sales. </a:t>
            </a:r>
          </a:p>
        </p:txBody>
      </p:sp>
    </p:spTree>
    <p:extLst>
      <p:ext uri="{BB962C8B-B14F-4D97-AF65-F5344CB8AC3E}">
        <p14:creationId xmlns:p14="http://schemas.microsoft.com/office/powerpoint/2010/main" val="7515552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6AADF29-FE45-CE16-42BB-F0536C2EB400}"/>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Customer Order Behavior Dashboard</a:t>
            </a:r>
          </a:p>
        </p:txBody>
      </p:sp>
      <p:pic>
        <p:nvPicPr>
          <p:cNvPr id="6" name="Picture 5">
            <a:extLst>
              <a:ext uri="{FF2B5EF4-FFF2-40B4-BE49-F238E27FC236}">
                <a16:creationId xmlns:a16="http://schemas.microsoft.com/office/drawing/2014/main" id="{D9371EB0-B5B9-48EE-FE25-79AA30A4A96D}"/>
              </a:ext>
            </a:extLst>
          </p:cNvPr>
          <p:cNvPicPr>
            <a:picLocks noChangeAspect="1"/>
          </p:cNvPicPr>
          <p:nvPr/>
        </p:nvPicPr>
        <p:blipFill>
          <a:blip r:embed="rId2">
            <a:extLst>
              <a:ext uri="{28A0092B-C50C-407E-A947-70E740481C1C}">
                <a14:useLocalDpi xmlns:a14="http://schemas.microsoft.com/office/drawing/2010/main" val="0"/>
              </a:ext>
            </a:extLst>
          </a:blip>
          <a:srcRect l="790" t="1165" b="516"/>
          <a:stretch/>
        </p:blipFill>
        <p:spPr>
          <a:xfrm>
            <a:off x="0" y="787399"/>
            <a:ext cx="12192000" cy="6070601"/>
          </a:xfrm>
          <a:prstGeom prst="rect">
            <a:avLst/>
          </a:prstGeom>
        </p:spPr>
      </p:pic>
    </p:spTree>
    <p:extLst>
      <p:ext uri="{BB962C8B-B14F-4D97-AF65-F5344CB8AC3E}">
        <p14:creationId xmlns:p14="http://schemas.microsoft.com/office/powerpoint/2010/main" val="1575018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33714D4-00CA-8555-FE51-BD5F8B6A3690}"/>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Customer Order Behavior Dashboard(Insights)</a:t>
            </a:r>
          </a:p>
        </p:txBody>
      </p:sp>
      <p:sp>
        <p:nvSpPr>
          <p:cNvPr id="6" name="TextBox 5">
            <a:extLst>
              <a:ext uri="{FF2B5EF4-FFF2-40B4-BE49-F238E27FC236}">
                <a16:creationId xmlns:a16="http://schemas.microsoft.com/office/drawing/2014/main" id="{511E2726-92B2-7CB4-0C2A-77C2ACD09363}"/>
              </a:ext>
            </a:extLst>
          </p:cNvPr>
          <p:cNvSpPr txBox="1"/>
          <p:nvPr/>
        </p:nvSpPr>
        <p:spPr>
          <a:xfrm>
            <a:off x="-1555" y="787399"/>
            <a:ext cx="12191999" cy="2683876"/>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INSIGHTS:</a:t>
            </a:r>
          </a:p>
          <a:p>
            <a:pPr>
              <a:buFont typeface="Arial" panose="020B0604020202020204" pitchFamily="34" charset="0"/>
              <a:buChar char="•"/>
            </a:pPr>
            <a:endParaRPr lang="en-US" dirty="0"/>
          </a:p>
          <a:p>
            <a:pPr marL="285750" indent="-285750" algn="just">
              <a:lnSpc>
                <a:spcPct val="150000"/>
              </a:lnSpc>
              <a:buFont typeface="Wingdings" panose="05000000000000000000" pitchFamily="2" charset="2"/>
              <a:buChar char="Ø"/>
            </a:pPr>
            <a:r>
              <a:rPr lang="en-US" dirty="0"/>
              <a:t>Customers order an average of </a:t>
            </a:r>
            <a:r>
              <a:rPr lang="en-US" b="1" dirty="0"/>
              <a:t>10.53 products</a:t>
            </a:r>
            <a:r>
              <a:rPr lang="en-US" dirty="0"/>
              <a:t> per purchase. </a:t>
            </a:r>
          </a:p>
          <a:p>
            <a:pPr marL="285750" indent="-285750" algn="just">
              <a:lnSpc>
                <a:spcPct val="150000"/>
              </a:lnSpc>
              <a:buFont typeface="Wingdings" panose="05000000000000000000" pitchFamily="2" charset="2"/>
              <a:buChar char="Ø"/>
            </a:pPr>
            <a:r>
              <a:rPr lang="en-US" dirty="0"/>
              <a:t>The average gap between two orders is </a:t>
            </a:r>
            <a:r>
              <a:rPr lang="en-US" b="1" dirty="0"/>
              <a:t>11 days</a:t>
            </a:r>
            <a:r>
              <a:rPr lang="en-US" dirty="0"/>
              <a:t>. </a:t>
            </a:r>
          </a:p>
          <a:p>
            <a:pPr marL="285750" indent="-285750" algn="just">
              <a:lnSpc>
                <a:spcPct val="150000"/>
              </a:lnSpc>
              <a:buFont typeface="Wingdings" panose="05000000000000000000" pitchFamily="2" charset="2"/>
              <a:buChar char="Ø"/>
            </a:pPr>
            <a:r>
              <a:rPr lang="en-US" b="1" dirty="0"/>
              <a:t>Sunday</a:t>
            </a:r>
            <a:r>
              <a:rPr lang="en-US" dirty="0"/>
              <a:t> records the highest number of orders (</a:t>
            </a:r>
            <a:r>
              <a:rPr lang="en-US" b="1" dirty="0"/>
              <a:t>183,939</a:t>
            </a:r>
            <a:r>
              <a:rPr lang="en-US" dirty="0"/>
              <a:t>), while </a:t>
            </a:r>
            <a:r>
              <a:rPr lang="en-US" b="1" dirty="0"/>
              <a:t>Thursday</a:t>
            </a:r>
            <a:r>
              <a:rPr lang="en-US" dirty="0"/>
              <a:t> has the lowest (</a:t>
            </a:r>
            <a:r>
              <a:rPr lang="en-US" b="1" dirty="0"/>
              <a:t>130,367</a:t>
            </a:r>
            <a:r>
              <a:rPr lang="en-US" dirty="0"/>
              <a:t>). </a:t>
            </a:r>
          </a:p>
          <a:p>
            <a:pPr marL="285750" indent="-285750" algn="just">
              <a:lnSpc>
                <a:spcPct val="150000"/>
              </a:lnSpc>
              <a:buFont typeface="Wingdings" panose="05000000000000000000" pitchFamily="2" charset="2"/>
              <a:buChar char="Ø"/>
            </a:pPr>
            <a:r>
              <a:rPr lang="en-US" dirty="0"/>
              <a:t>Average order size remains </a:t>
            </a:r>
            <a:r>
              <a:rPr lang="en-US" b="1" dirty="0"/>
              <a:t>consistent (59–61)</a:t>
            </a:r>
            <a:r>
              <a:rPr lang="en-US" dirty="0"/>
              <a:t> across all days. </a:t>
            </a:r>
          </a:p>
          <a:p>
            <a:pPr marL="285750" indent="-285750" algn="just">
              <a:lnSpc>
                <a:spcPct val="150000"/>
              </a:lnSpc>
              <a:buFont typeface="Wingdings" panose="05000000000000000000" pitchFamily="2" charset="2"/>
              <a:buChar char="Ø"/>
            </a:pPr>
            <a:r>
              <a:rPr lang="en-US" dirty="0"/>
              <a:t>Order activity is highest between </a:t>
            </a:r>
            <a:r>
              <a:rPr lang="en-US" b="1" dirty="0"/>
              <a:t>9 AM and 4 PM</a:t>
            </a:r>
            <a:r>
              <a:rPr lang="en-US" dirty="0"/>
              <a:t>, peaking around </a:t>
            </a:r>
            <a:r>
              <a:rPr lang="en-US" b="1" dirty="0"/>
              <a:t>4 PM</a:t>
            </a:r>
            <a:r>
              <a:rPr lang="en-US" dirty="0"/>
              <a:t>. </a:t>
            </a:r>
          </a:p>
        </p:txBody>
      </p:sp>
    </p:spTree>
    <p:extLst>
      <p:ext uri="{BB962C8B-B14F-4D97-AF65-F5344CB8AC3E}">
        <p14:creationId xmlns:p14="http://schemas.microsoft.com/office/powerpoint/2010/main" val="928745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3615C73-34E1-2247-7336-DA12B2827F6B}"/>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Customer Order Behavior Dashboard(Recommendations)</a:t>
            </a:r>
          </a:p>
        </p:txBody>
      </p:sp>
      <p:sp>
        <p:nvSpPr>
          <p:cNvPr id="6" name="TextBox 5">
            <a:extLst>
              <a:ext uri="{FF2B5EF4-FFF2-40B4-BE49-F238E27FC236}">
                <a16:creationId xmlns:a16="http://schemas.microsoft.com/office/drawing/2014/main" id="{C9DF251D-A7AA-69FE-1627-D2A55933D39C}"/>
              </a:ext>
            </a:extLst>
          </p:cNvPr>
          <p:cNvSpPr txBox="1"/>
          <p:nvPr/>
        </p:nvSpPr>
        <p:spPr>
          <a:xfrm>
            <a:off x="0" y="787399"/>
            <a:ext cx="12192000" cy="5453865"/>
          </a:xfrm>
          <a:prstGeom prst="rect">
            <a:avLst/>
          </a:prstGeom>
          <a:noFill/>
        </p:spPr>
        <p:txBody>
          <a:bodyPr wrap="square">
            <a:spAutoFit/>
          </a:bodyPr>
          <a:lstStyle/>
          <a:p>
            <a:pPr algn="just">
              <a:lnSpc>
                <a:spcPct val="150000"/>
              </a:lnSpc>
            </a:pPr>
            <a:r>
              <a:rPr lang="en-US" b="1" dirty="0">
                <a:latin typeface="Arial" panose="020B0604020202020204" pitchFamily="34" charset="0"/>
                <a:cs typeface="Arial" panose="020B0604020202020204" pitchFamily="34" charset="0"/>
              </a:rPr>
              <a:t>Recommendations:</a:t>
            </a:r>
            <a:endParaRPr lang="en-US" b="1" dirty="0"/>
          </a:p>
          <a:p>
            <a:pPr algn="just">
              <a:lnSpc>
                <a:spcPct val="150000"/>
              </a:lnSpc>
            </a:pPr>
            <a:r>
              <a:rPr lang="en-US" b="1" dirty="0"/>
              <a:t>      </a:t>
            </a:r>
            <a:r>
              <a:rPr lang="en-US" b="1" dirty="0">
                <a:solidFill>
                  <a:schemeClr val="accent1">
                    <a:lumMod val="60000"/>
                    <a:lumOff val="40000"/>
                  </a:schemeClr>
                </a:solidFill>
              </a:rPr>
              <a:t>Optimize Inventory During Peak Demand</a:t>
            </a:r>
          </a:p>
          <a:p>
            <a:pPr marL="285750" indent="-285750" algn="just">
              <a:lnSpc>
                <a:spcPct val="150000"/>
              </a:lnSpc>
              <a:buFont typeface="Wingdings" panose="05000000000000000000" pitchFamily="2" charset="2"/>
              <a:buChar char="Ø"/>
            </a:pPr>
            <a:r>
              <a:rPr lang="en-US" dirty="0"/>
              <a:t>Increase inventory levels for products that experience high demand on </a:t>
            </a:r>
            <a:r>
              <a:rPr lang="en-US" b="1" dirty="0"/>
              <a:t>Sundays, Mondays, and during peak shopping hours (9 AM–4 PM)</a:t>
            </a:r>
            <a:r>
              <a:rPr lang="en-US" dirty="0"/>
              <a:t>. Maintaining sufficient stock during these periods will reduce stock-outs, improve customer satisfaction, and minimize lost sales opportunities.</a:t>
            </a:r>
          </a:p>
          <a:p>
            <a:pPr algn="just">
              <a:lnSpc>
                <a:spcPct val="150000"/>
              </a:lnSpc>
            </a:pPr>
            <a:r>
              <a:rPr lang="en-US" b="1" dirty="0"/>
              <a:t>     </a:t>
            </a:r>
            <a:r>
              <a:rPr lang="en-US" b="1" dirty="0">
                <a:solidFill>
                  <a:schemeClr val="accent1">
                    <a:lumMod val="60000"/>
                    <a:lumOff val="40000"/>
                  </a:schemeClr>
                </a:solidFill>
              </a:rPr>
              <a:t>Increase Sales on Low-Demand Days</a:t>
            </a:r>
          </a:p>
          <a:p>
            <a:pPr marL="285750" indent="-285750" algn="just">
              <a:lnSpc>
                <a:spcPct val="150000"/>
              </a:lnSpc>
              <a:buFont typeface="Wingdings" panose="05000000000000000000" pitchFamily="2" charset="2"/>
              <a:buChar char="Ø"/>
            </a:pPr>
            <a:r>
              <a:rPr lang="en-US" dirty="0"/>
              <a:t>Introduce targeted promotions, discounts, or loyalty rewards on </a:t>
            </a:r>
            <a:r>
              <a:rPr lang="en-US" b="1" dirty="0"/>
              <a:t>Tuesdays, Wednesdays, and Thursdays</a:t>
            </a:r>
            <a:r>
              <a:rPr lang="en-US" dirty="0"/>
              <a:t>, when customer order volume is comparatively lower. Time-based offers can help distribute demand more evenly throughout the week.</a:t>
            </a:r>
          </a:p>
          <a:p>
            <a:pPr algn="just">
              <a:lnSpc>
                <a:spcPct val="150000"/>
              </a:lnSpc>
            </a:pPr>
            <a:r>
              <a:rPr lang="en-US" b="1" dirty="0"/>
              <a:t>      </a:t>
            </a:r>
            <a:r>
              <a:rPr lang="en-US" b="1" dirty="0">
                <a:solidFill>
                  <a:schemeClr val="accent1">
                    <a:lumMod val="60000"/>
                    <a:lumOff val="40000"/>
                  </a:schemeClr>
                </a:solidFill>
              </a:rPr>
              <a:t>Improve Operational Efficiency</a:t>
            </a:r>
          </a:p>
          <a:p>
            <a:pPr marL="285750" indent="-285750" algn="just">
              <a:lnSpc>
                <a:spcPct val="150000"/>
              </a:lnSpc>
              <a:buFont typeface="Wingdings" panose="05000000000000000000" pitchFamily="2" charset="2"/>
              <a:buChar char="Ø"/>
            </a:pPr>
            <a:r>
              <a:rPr lang="en-US" dirty="0"/>
              <a:t>Allocate more warehouse staff, delivery personnel, and customer support resources during peak ordering hours, while reducing staffing during late-night periods when order activity is minimal. This improves service quality and optimizes operational costs.</a:t>
            </a:r>
          </a:p>
        </p:txBody>
      </p:sp>
    </p:spTree>
    <p:extLst>
      <p:ext uri="{BB962C8B-B14F-4D97-AF65-F5344CB8AC3E}">
        <p14:creationId xmlns:p14="http://schemas.microsoft.com/office/powerpoint/2010/main" val="3249051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E834D99-B542-1D36-ADE1-88983B916ADA}"/>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a:latin typeface="Bahnschrift" panose="020B0502040204020203" pitchFamily="34" charset="0"/>
              </a:rPr>
              <a:t>Customer Order Behavior Dashboard(Recommendations)</a:t>
            </a:r>
            <a:endParaRPr lang="en-US" sz="2800" b="1" dirty="0">
              <a:latin typeface="Bahnschrift" panose="020B0502040204020203" pitchFamily="34" charset="0"/>
            </a:endParaRPr>
          </a:p>
        </p:txBody>
      </p:sp>
      <p:sp>
        <p:nvSpPr>
          <p:cNvPr id="9" name="TextBox 8">
            <a:extLst>
              <a:ext uri="{FF2B5EF4-FFF2-40B4-BE49-F238E27FC236}">
                <a16:creationId xmlns:a16="http://schemas.microsoft.com/office/drawing/2014/main" id="{D014F5E2-E4E6-DBE9-B0C7-1E1FBBFE5379}"/>
              </a:ext>
            </a:extLst>
          </p:cNvPr>
          <p:cNvSpPr txBox="1"/>
          <p:nvPr/>
        </p:nvSpPr>
        <p:spPr>
          <a:xfrm>
            <a:off x="-1" y="787399"/>
            <a:ext cx="12191999" cy="2960875"/>
          </a:xfrm>
          <a:prstGeom prst="rect">
            <a:avLst/>
          </a:prstGeom>
          <a:noFill/>
        </p:spPr>
        <p:txBody>
          <a:bodyPr wrap="square">
            <a:spAutoFit/>
          </a:bodyPr>
          <a:lstStyle/>
          <a:p>
            <a:pPr algn="just">
              <a:lnSpc>
                <a:spcPct val="150000"/>
              </a:lnSpc>
            </a:pPr>
            <a:r>
              <a:rPr lang="en-US" b="1" dirty="0"/>
              <a:t>       </a:t>
            </a:r>
            <a:r>
              <a:rPr lang="en-US" b="1" dirty="0">
                <a:solidFill>
                  <a:schemeClr val="accent1">
                    <a:lumMod val="60000"/>
                    <a:lumOff val="40000"/>
                  </a:schemeClr>
                </a:solidFill>
              </a:rPr>
              <a:t>Strengthen Customer Retention</a:t>
            </a:r>
          </a:p>
          <a:p>
            <a:pPr marL="285750" indent="-285750" algn="just">
              <a:lnSpc>
                <a:spcPct val="150000"/>
              </a:lnSpc>
              <a:buFont typeface="Wingdings" panose="05000000000000000000" pitchFamily="2" charset="2"/>
              <a:buChar char="Ø"/>
            </a:pPr>
            <a:r>
              <a:rPr lang="en-US" dirty="0"/>
              <a:t>Since customers place orders approximately every </a:t>
            </a:r>
            <a:r>
              <a:rPr lang="en-US" b="1" dirty="0"/>
              <a:t>11 days</a:t>
            </a:r>
            <a:r>
              <a:rPr lang="en-US" dirty="0"/>
              <a:t>, schedule personalized reminder emails, app notifications, or discount coupons around the </a:t>
            </a:r>
            <a:r>
              <a:rPr lang="en-US" b="1" dirty="0"/>
              <a:t>9th to 11th day</a:t>
            </a:r>
            <a:r>
              <a:rPr lang="en-US" dirty="0"/>
              <a:t> after a customer's last purchase to encourage repeat orders.</a:t>
            </a:r>
          </a:p>
          <a:p>
            <a:pPr algn="just">
              <a:lnSpc>
                <a:spcPct val="150000"/>
              </a:lnSpc>
            </a:pPr>
            <a:r>
              <a:rPr lang="en-US" b="1" dirty="0">
                <a:solidFill>
                  <a:schemeClr val="accent1">
                    <a:lumMod val="60000"/>
                    <a:lumOff val="40000"/>
                  </a:schemeClr>
                </a:solidFill>
              </a:rPr>
              <a:t>      Increase Average Basket Size</a:t>
            </a:r>
          </a:p>
          <a:p>
            <a:pPr marL="285750" indent="-285750" algn="just">
              <a:lnSpc>
                <a:spcPct val="150000"/>
              </a:lnSpc>
              <a:buFont typeface="Wingdings" panose="05000000000000000000" pitchFamily="2" charset="2"/>
              <a:buChar char="Ø"/>
            </a:pPr>
            <a:r>
              <a:rPr lang="en-US" dirty="0"/>
              <a:t>Implement cross-selling strategies such as </a:t>
            </a:r>
            <a:r>
              <a:rPr lang="en-US" b="1" dirty="0"/>
              <a:t>"Frequently Bought Together"</a:t>
            </a:r>
            <a:r>
              <a:rPr lang="en-US" dirty="0"/>
              <a:t>, product bundles, and personalized recommendations during checkout. These techniques can encourage customers to add more items to their cart, increasing the average order value and overall revenue.</a:t>
            </a:r>
          </a:p>
        </p:txBody>
      </p:sp>
    </p:spTree>
    <p:extLst>
      <p:ext uri="{BB962C8B-B14F-4D97-AF65-F5344CB8AC3E}">
        <p14:creationId xmlns:p14="http://schemas.microsoft.com/office/powerpoint/2010/main" val="29652910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0ED2956-8E8B-46DC-0B5F-AF68933030EC}"/>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Product Performance Dashboard</a:t>
            </a:r>
          </a:p>
        </p:txBody>
      </p:sp>
      <p:pic>
        <p:nvPicPr>
          <p:cNvPr id="6" name="Picture 5">
            <a:extLst>
              <a:ext uri="{FF2B5EF4-FFF2-40B4-BE49-F238E27FC236}">
                <a16:creationId xmlns:a16="http://schemas.microsoft.com/office/drawing/2014/main" id="{BC03C14F-A5FA-7AD7-5F55-C98C258E752B}"/>
              </a:ext>
            </a:extLst>
          </p:cNvPr>
          <p:cNvPicPr>
            <a:picLocks noChangeAspect="1"/>
          </p:cNvPicPr>
          <p:nvPr/>
        </p:nvPicPr>
        <p:blipFill>
          <a:blip r:embed="rId2">
            <a:extLst>
              <a:ext uri="{28A0092B-C50C-407E-A947-70E740481C1C}">
                <a14:useLocalDpi xmlns:a14="http://schemas.microsoft.com/office/drawing/2010/main" val="0"/>
              </a:ext>
            </a:extLst>
          </a:blip>
          <a:srcRect l="1342" t="1074" r="1305"/>
          <a:stretch/>
        </p:blipFill>
        <p:spPr>
          <a:xfrm>
            <a:off x="0" y="787398"/>
            <a:ext cx="12191999" cy="6070601"/>
          </a:xfrm>
          <a:prstGeom prst="rect">
            <a:avLst/>
          </a:prstGeom>
        </p:spPr>
      </p:pic>
    </p:spTree>
    <p:extLst>
      <p:ext uri="{BB962C8B-B14F-4D97-AF65-F5344CB8AC3E}">
        <p14:creationId xmlns:p14="http://schemas.microsoft.com/office/powerpoint/2010/main" val="5635480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7853EE5-864C-C5BD-57AA-7E04F0679FF8}"/>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Product Performance Dashboard(Insights)</a:t>
            </a:r>
          </a:p>
        </p:txBody>
      </p:sp>
      <p:sp>
        <p:nvSpPr>
          <p:cNvPr id="5" name="Rectangle 1">
            <a:extLst>
              <a:ext uri="{FF2B5EF4-FFF2-40B4-BE49-F238E27FC236}">
                <a16:creationId xmlns:a16="http://schemas.microsoft.com/office/drawing/2014/main" id="{F1A54A72-06A9-8B69-E8E6-24F9FD1A60CE}"/>
              </a:ext>
            </a:extLst>
          </p:cNvPr>
          <p:cNvSpPr>
            <a:spLocks noChangeArrowheads="1"/>
          </p:cNvSpPr>
          <p:nvPr/>
        </p:nvSpPr>
        <p:spPr bwMode="auto">
          <a:xfrm>
            <a:off x="266700" y="1342064"/>
            <a:ext cx="10972799" cy="308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contains approximately </a:t>
            </a:r>
            <a:r>
              <a:rPr kumimoji="0" lang="en-US" altLang="en-US" sz="1800" b="1" i="0" u="none" strike="noStrike" cap="none" normalizeH="0" baseline="0" dirty="0">
                <a:ln>
                  <a:noFill/>
                </a:ln>
                <a:solidFill>
                  <a:schemeClr val="tx1"/>
                </a:solidFill>
                <a:effectLst/>
                <a:latin typeface="Arial" panose="020B0604020202020204" pitchFamily="34" charset="0"/>
              </a:rPr>
              <a:t>49K products</a:t>
            </a:r>
            <a:r>
              <a:rPr kumimoji="0" lang="en-US" altLang="en-US" sz="1800" b="0" i="0" u="none" strike="noStrike" cap="none" normalizeH="0" baseline="0" dirty="0">
                <a:ln>
                  <a:noFill/>
                </a:ln>
                <a:solidFill>
                  <a:schemeClr val="tx1"/>
                </a:solidFill>
                <a:effectLst/>
                <a:latin typeface="Arial" panose="020B0604020202020204" pitchFamily="34" charset="0"/>
              </a:rPr>
              <a:t> with an average order size of </a:t>
            </a:r>
            <a:r>
              <a:rPr kumimoji="0" lang="en-US" altLang="en-US" sz="1800" b="1" i="0" u="none" strike="noStrike" cap="none" normalizeH="0" baseline="0" dirty="0">
                <a:ln>
                  <a:noFill/>
                </a:ln>
                <a:solidFill>
                  <a:schemeClr val="tx1"/>
                </a:solidFill>
                <a:effectLst/>
                <a:latin typeface="Arial" panose="020B0604020202020204" pitchFamily="34" charset="0"/>
              </a:rPr>
              <a:t>34.66</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Banana</a:t>
            </a:r>
            <a:r>
              <a:rPr kumimoji="0" lang="en-US" altLang="en-US" sz="1800" b="0" i="0" u="none" strike="noStrike" cap="none" normalizeH="0" baseline="0" dirty="0">
                <a:ln>
                  <a:noFill/>
                </a:ln>
                <a:solidFill>
                  <a:schemeClr val="tx1"/>
                </a:solidFill>
                <a:effectLst/>
                <a:latin typeface="Arial" panose="020B0604020202020204" pitchFamily="34" charset="0"/>
              </a:rPr>
              <a:t> is the most ordered product, followed by </a:t>
            </a:r>
            <a:r>
              <a:rPr kumimoji="0" lang="en-US" altLang="en-US" sz="1800" b="1" i="0" u="none" strike="noStrike" cap="none" normalizeH="0" baseline="0" dirty="0">
                <a:ln>
                  <a:noFill/>
                </a:ln>
                <a:solidFill>
                  <a:schemeClr val="tx1"/>
                </a:solidFill>
                <a:effectLst/>
                <a:latin typeface="Arial" panose="020B0604020202020204" pitchFamily="34" charset="0"/>
              </a:rPr>
              <a:t>Bag of Organic Bananas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Personal Care, Snacks, and Pantry</a:t>
            </a:r>
            <a:r>
              <a:rPr kumimoji="0" lang="en-US" altLang="en-US" sz="1800" b="0" i="0" u="none" strike="noStrike" cap="none" normalizeH="0" baseline="0" dirty="0">
                <a:ln>
                  <a:noFill/>
                </a:ln>
                <a:solidFill>
                  <a:schemeClr val="tx1"/>
                </a:solidFill>
                <a:effectLst/>
                <a:latin typeface="Arial" panose="020B0604020202020204" pitchFamily="34" charset="0"/>
              </a:rPr>
              <a:t> are the largest departments by product count.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Most customer orders contain </a:t>
            </a:r>
            <a:r>
              <a:rPr kumimoji="0" lang="en-US" altLang="en-US" sz="1800" b="1" i="0" u="none" strike="noStrike" cap="none" normalizeH="0" baseline="0" dirty="0">
                <a:ln>
                  <a:noFill/>
                </a:ln>
                <a:solidFill>
                  <a:schemeClr val="tx1"/>
                </a:solidFill>
                <a:effectLst/>
                <a:latin typeface="Arial" panose="020B0604020202020204" pitchFamily="34" charset="0"/>
              </a:rPr>
              <a:t>5–7 products</a:t>
            </a:r>
            <a:r>
              <a:rPr kumimoji="0" lang="en-US" altLang="en-US" sz="1800" b="0" i="0" u="none" strike="noStrike" cap="none" normalizeH="0" baseline="0" dirty="0">
                <a:ln>
                  <a:noFill/>
                </a:ln>
                <a:solidFill>
                  <a:schemeClr val="tx1"/>
                </a:solidFill>
                <a:effectLst/>
                <a:latin typeface="Arial" panose="020B0604020202020204" pitchFamily="34" charset="0"/>
              </a:rPr>
              <a:t>, indicating moderate basket sizes.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Produce</a:t>
            </a:r>
            <a:r>
              <a:rPr kumimoji="0" lang="en-US" altLang="en-US" sz="1800" b="0" i="0" u="none" strike="noStrike" cap="none" normalizeH="0" baseline="0" dirty="0">
                <a:ln>
                  <a:noFill/>
                </a:ln>
                <a:solidFill>
                  <a:schemeClr val="tx1"/>
                </a:solidFill>
                <a:effectLst/>
                <a:latin typeface="Arial" panose="020B0604020202020204" pitchFamily="34" charset="0"/>
              </a:rPr>
              <a:t> department has the highest number of users, while departments like </a:t>
            </a:r>
            <a:r>
              <a:rPr kumimoji="0" lang="en-US" altLang="en-US" sz="1800" b="1" i="0" u="none" strike="noStrike" cap="none" normalizeH="0" baseline="0" dirty="0">
                <a:ln>
                  <a:noFill/>
                </a:ln>
                <a:solidFill>
                  <a:schemeClr val="tx1"/>
                </a:solidFill>
                <a:effectLst/>
                <a:latin typeface="Arial" panose="020B0604020202020204" pitchFamily="34" charset="0"/>
              </a:rPr>
              <a:t>International</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Personal Care</a:t>
            </a:r>
            <a:r>
              <a:rPr kumimoji="0" lang="en-US" altLang="en-US" sz="1800" b="0" i="0" u="none" strike="noStrike" cap="none" normalizeH="0" baseline="0" dirty="0">
                <a:ln>
                  <a:noFill/>
                </a:ln>
                <a:solidFill>
                  <a:schemeClr val="tx1"/>
                </a:solidFill>
                <a:effectLst/>
                <a:latin typeface="Arial" panose="020B0604020202020204" pitchFamily="34" charset="0"/>
              </a:rPr>
              <a:t> have comparatively fewer users. </a:t>
            </a:r>
          </a:p>
        </p:txBody>
      </p:sp>
    </p:spTree>
    <p:extLst>
      <p:ext uri="{BB962C8B-B14F-4D97-AF65-F5344CB8AC3E}">
        <p14:creationId xmlns:p14="http://schemas.microsoft.com/office/powerpoint/2010/main" val="284808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047401C-AD28-E892-58FA-908EF4D78AD3}"/>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Product Performance Dashboard(Recommendations)</a:t>
            </a:r>
          </a:p>
        </p:txBody>
      </p:sp>
      <p:sp>
        <p:nvSpPr>
          <p:cNvPr id="8" name="TextBox 7">
            <a:extLst>
              <a:ext uri="{FF2B5EF4-FFF2-40B4-BE49-F238E27FC236}">
                <a16:creationId xmlns:a16="http://schemas.microsoft.com/office/drawing/2014/main" id="{1F39FAE8-1302-9BE4-7A0A-D8FD0E4CDFAE}"/>
              </a:ext>
            </a:extLst>
          </p:cNvPr>
          <p:cNvSpPr txBox="1"/>
          <p:nvPr/>
        </p:nvSpPr>
        <p:spPr>
          <a:xfrm>
            <a:off x="1" y="992672"/>
            <a:ext cx="12191999" cy="5176866"/>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Recommendations:</a:t>
            </a:r>
          </a:p>
          <a:p>
            <a:endParaRPr lang="en-US" b="1" dirty="0"/>
          </a:p>
          <a:p>
            <a:pPr algn="just">
              <a:lnSpc>
                <a:spcPct val="150000"/>
              </a:lnSpc>
            </a:pPr>
            <a:r>
              <a:rPr lang="en-US" b="1" dirty="0"/>
              <a:t>       </a:t>
            </a:r>
            <a:r>
              <a:rPr lang="en-US" b="1" dirty="0">
                <a:solidFill>
                  <a:schemeClr val="accent1">
                    <a:lumMod val="60000"/>
                    <a:lumOff val="40000"/>
                  </a:schemeClr>
                </a:solidFill>
              </a:rPr>
              <a:t>Prioritize High-Demand Products</a:t>
            </a:r>
          </a:p>
          <a:p>
            <a:pPr marL="285750" indent="-285750" algn="just">
              <a:lnSpc>
                <a:spcPct val="150000"/>
              </a:lnSpc>
              <a:buFont typeface="Wingdings" panose="05000000000000000000" pitchFamily="2" charset="2"/>
              <a:buChar char="Ø"/>
            </a:pPr>
            <a:r>
              <a:rPr lang="en-US" dirty="0"/>
              <a:t>Ensure products such as </a:t>
            </a:r>
            <a:r>
              <a:rPr lang="en-US" b="1" dirty="0"/>
              <a:t>Bananas, Organic Bananas, Organic Strawberries, and Organic Baby Spinach</a:t>
            </a:r>
            <a:r>
              <a:rPr lang="en-US" dirty="0"/>
              <a:t> remain well-stocked. These products experience consistently high demand and should be prioritized in inventory planning to avoid stock shortages and improve customer satisfaction.</a:t>
            </a:r>
          </a:p>
          <a:p>
            <a:pPr algn="just">
              <a:lnSpc>
                <a:spcPct val="150000"/>
              </a:lnSpc>
            </a:pPr>
            <a:r>
              <a:rPr lang="en-US" b="1" dirty="0"/>
              <a:t>       </a:t>
            </a:r>
            <a:r>
              <a:rPr lang="en-US" b="1" dirty="0">
                <a:solidFill>
                  <a:schemeClr val="accent1">
                    <a:lumMod val="60000"/>
                    <a:lumOff val="40000"/>
                  </a:schemeClr>
                </a:solidFill>
              </a:rPr>
              <a:t>Optimize Product Assortment Across Departments</a:t>
            </a:r>
          </a:p>
          <a:p>
            <a:pPr marL="285750" indent="-285750" algn="just">
              <a:lnSpc>
                <a:spcPct val="150000"/>
              </a:lnSpc>
              <a:buFont typeface="Wingdings" panose="05000000000000000000" pitchFamily="2" charset="2"/>
              <a:buChar char="Ø"/>
            </a:pPr>
            <a:r>
              <a:rPr lang="en-US" dirty="0"/>
              <a:t>Departments such as </a:t>
            </a:r>
            <a:r>
              <a:rPr lang="en-US" b="1" dirty="0"/>
              <a:t>Personal Care, Snacks, and Pantry</a:t>
            </a:r>
            <a:r>
              <a:rPr lang="en-US" dirty="0"/>
              <a:t> contain the largest number of products. Regularly review product performance within these departments to remove slow-moving items and introduce new products that align with changing customer preferences.</a:t>
            </a:r>
          </a:p>
          <a:p>
            <a:pPr algn="just">
              <a:lnSpc>
                <a:spcPct val="150000"/>
              </a:lnSpc>
            </a:pPr>
            <a:r>
              <a:rPr lang="en-US" b="1" dirty="0"/>
              <a:t>       </a:t>
            </a:r>
            <a:r>
              <a:rPr lang="en-US" b="1" dirty="0">
                <a:solidFill>
                  <a:schemeClr val="accent1">
                    <a:lumMod val="60000"/>
                    <a:lumOff val="40000"/>
                  </a:schemeClr>
                </a:solidFill>
              </a:rPr>
              <a:t>Improve Cross-Selling Opportunities</a:t>
            </a:r>
          </a:p>
          <a:p>
            <a:pPr marL="285750" indent="-285750" algn="just">
              <a:lnSpc>
                <a:spcPct val="150000"/>
              </a:lnSpc>
              <a:buFont typeface="Wingdings" panose="05000000000000000000" pitchFamily="2" charset="2"/>
              <a:buChar char="Ø"/>
            </a:pPr>
            <a:r>
              <a:rPr lang="en-US" dirty="0"/>
              <a:t>Since most customers purchase </a:t>
            </a:r>
            <a:r>
              <a:rPr lang="en-US" b="1" dirty="0"/>
              <a:t>5–7 products per order</a:t>
            </a:r>
            <a:r>
              <a:rPr lang="en-US" dirty="0"/>
              <a:t>, recommend complementary products during checkout through bundle offers and personalized suggestions. This can increase basket size and improve overall sales.</a:t>
            </a:r>
          </a:p>
        </p:txBody>
      </p:sp>
    </p:spTree>
    <p:extLst>
      <p:ext uri="{BB962C8B-B14F-4D97-AF65-F5344CB8AC3E}">
        <p14:creationId xmlns:p14="http://schemas.microsoft.com/office/powerpoint/2010/main" val="8532722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A1DBA8D-A15F-6093-77D1-7C3A35BAF262}"/>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Product Performance Dashboard(</a:t>
            </a:r>
            <a:r>
              <a:rPr lang="en-US" sz="2800" b="1" dirty="0" err="1">
                <a:latin typeface="Bahnschrift" panose="020B0502040204020203" pitchFamily="34" charset="0"/>
              </a:rPr>
              <a:t>Recommedations</a:t>
            </a:r>
            <a:r>
              <a:rPr lang="en-US" sz="2800" b="1" dirty="0">
                <a:latin typeface="Bahnschrift" panose="020B0502040204020203" pitchFamily="34" charset="0"/>
              </a:rPr>
              <a:t>)</a:t>
            </a:r>
          </a:p>
        </p:txBody>
      </p:sp>
      <p:sp>
        <p:nvSpPr>
          <p:cNvPr id="8" name="TextBox 7">
            <a:extLst>
              <a:ext uri="{FF2B5EF4-FFF2-40B4-BE49-F238E27FC236}">
                <a16:creationId xmlns:a16="http://schemas.microsoft.com/office/drawing/2014/main" id="{34CCFF00-3BC8-2E72-B54B-84273375B627}"/>
              </a:ext>
            </a:extLst>
          </p:cNvPr>
          <p:cNvSpPr txBox="1"/>
          <p:nvPr/>
        </p:nvSpPr>
        <p:spPr>
          <a:xfrm>
            <a:off x="0" y="787399"/>
            <a:ext cx="12192000" cy="3376374"/>
          </a:xfrm>
          <a:prstGeom prst="rect">
            <a:avLst/>
          </a:prstGeom>
          <a:noFill/>
        </p:spPr>
        <p:txBody>
          <a:bodyPr wrap="square">
            <a:spAutoFit/>
          </a:bodyPr>
          <a:lstStyle/>
          <a:p>
            <a:pPr algn="just">
              <a:lnSpc>
                <a:spcPct val="150000"/>
              </a:lnSpc>
            </a:pPr>
            <a:r>
              <a:rPr lang="en-US" b="1" dirty="0">
                <a:solidFill>
                  <a:schemeClr val="accent1">
                    <a:lumMod val="60000"/>
                    <a:lumOff val="40000"/>
                  </a:schemeClr>
                </a:solidFill>
              </a:rPr>
              <a:t>       Strengthen Underperforming Departments</a:t>
            </a:r>
          </a:p>
          <a:p>
            <a:pPr marL="285750" indent="-285750" algn="just">
              <a:lnSpc>
                <a:spcPct val="150000"/>
              </a:lnSpc>
              <a:buFont typeface="Wingdings" panose="05000000000000000000" pitchFamily="2" charset="2"/>
              <a:buChar char="Ø"/>
            </a:pPr>
            <a:r>
              <a:rPr lang="en-US" dirty="0"/>
              <a:t>Departments with lower customer engagement should be supported through targeted promotions, improved product visibility, and category-specific marketing campaigns. Understanding customer preferences in these categories can help increase their sales contribution.</a:t>
            </a:r>
          </a:p>
          <a:p>
            <a:pPr algn="just">
              <a:lnSpc>
                <a:spcPct val="150000"/>
              </a:lnSpc>
            </a:pPr>
            <a:r>
              <a:rPr lang="en-US" b="1" dirty="0"/>
              <a:t>      </a:t>
            </a:r>
            <a:r>
              <a:rPr lang="en-US" b="1" dirty="0">
                <a:solidFill>
                  <a:schemeClr val="accent1">
                    <a:lumMod val="60000"/>
                    <a:lumOff val="40000"/>
                  </a:schemeClr>
                </a:solidFill>
              </a:rPr>
              <a:t>Focus Marketing on Popular Categories</a:t>
            </a:r>
          </a:p>
          <a:p>
            <a:pPr marL="285750" indent="-285750" algn="just">
              <a:lnSpc>
                <a:spcPct val="150000"/>
              </a:lnSpc>
              <a:buFont typeface="Wingdings" panose="05000000000000000000" pitchFamily="2" charset="2"/>
              <a:buChar char="Ø"/>
            </a:pPr>
            <a:r>
              <a:rPr lang="en-US" dirty="0"/>
              <a:t>Use the popularity of the </a:t>
            </a:r>
            <a:r>
              <a:rPr lang="en-US" b="1" dirty="0"/>
              <a:t>Produce</a:t>
            </a:r>
            <a:r>
              <a:rPr lang="en-US" dirty="0"/>
              <a:t> department to drive additional sales by promoting related products from other departments. Personalized recommendations and seasonal campaigns can encourage customers to explore more categories while maintaining strong engagement with high-performing products.</a:t>
            </a:r>
          </a:p>
        </p:txBody>
      </p:sp>
    </p:spTree>
    <p:extLst>
      <p:ext uri="{BB962C8B-B14F-4D97-AF65-F5344CB8AC3E}">
        <p14:creationId xmlns:p14="http://schemas.microsoft.com/office/powerpoint/2010/main" val="27099601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3083BE2-D82E-CD3C-E928-7CE93C4C3BB4}"/>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Reorder Analyses Dashboard</a:t>
            </a:r>
          </a:p>
        </p:txBody>
      </p:sp>
      <p:pic>
        <p:nvPicPr>
          <p:cNvPr id="6" name="Picture 5">
            <a:extLst>
              <a:ext uri="{FF2B5EF4-FFF2-40B4-BE49-F238E27FC236}">
                <a16:creationId xmlns:a16="http://schemas.microsoft.com/office/drawing/2014/main" id="{D68691B6-3EEF-047B-80C0-EF08A717EA4F}"/>
              </a:ext>
            </a:extLst>
          </p:cNvPr>
          <p:cNvPicPr>
            <a:picLocks noChangeAspect="1"/>
          </p:cNvPicPr>
          <p:nvPr/>
        </p:nvPicPr>
        <p:blipFill>
          <a:blip r:embed="rId2">
            <a:extLst>
              <a:ext uri="{28A0092B-C50C-407E-A947-70E740481C1C}">
                <a14:useLocalDpi xmlns:a14="http://schemas.microsoft.com/office/drawing/2010/main" val="0"/>
              </a:ext>
            </a:extLst>
          </a:blip>
          <a:srcRect l="422" t="744" r="760"/>
          <a:stretch/>
        </p:blipFill>
        <p:spPr>
          <a:xfrm>
            <a:off x="0" y="787399"/>
            <a:ext cx="12192000" cy="6070601"/>
          </a:xfrm>
          <a:prstGeom prst="rect">
            <a:avLst/>
          </a:prstGeom>
        </p:spPr>
      </p:pic>
    </p:spTree>
    <p:extLst>
      <p:ext uri="{BB962C8B-B14F-4D97-AF65-F5344CB8AC3E}">
        <p14:creationId xmlns:p14="http://schemas.microsoft.com/office/powerpoint/2010/main" val="4869715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88E48F-D8BA-21FC-7C3D-A0F363541B78}"/>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Reorder Analyses Dashboard(Insights)</a:t>
            </a:r>
          </a:p>
        </p:txBody>
      </p:sp>
      <p:sp>
        <p:nvSpPr>
          <p:cNvPr id="5" name="Rectangle 1">
            <a:extLst>
              <a:ext uri="{FF2B5EF4-FFF2-40B4-BE49-F238E27FC236}">
                <a16:creationId xmlns:a16="http://schemas.microsoft.com/office/drawing/2014/main" id="{08F03BD8-46B0-9485-BC70-A20DE17E8BE4}"/>
              </a:ext>
            </a:extLst>
          </p:cNvPr>
          <p:cNvSpPr>
            <a:spLocks noChangeArrowheads="1"/>
          </p:cNvSpPr>
          <p:nvPr/>
        </p:nvSpPr>
        <p:spPr bwMode="auto">
          <a:xfrm>
            <a:off x="0" y="1354328"/>
            <a:ext cx="11725275" cy="391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20,085 products</a:t>
            </a:r>
            <a:r>
              <a:rPr kumimoji="0" lang="en-US" altLang="en-US" sz="1800" b="0" i="0" u="none" strike="noStrike" cap="none" normalizeH="0" baseline="0" dirty="0">
                <a:ln>
                  <a:noFill/>
                </a:ln>
                <a:solidFill>
                  <a:schemeClr val="tx1"/>
                </a:solidFill>
                <a:effectLst/>
                <a:latin typeface="Arial" panose="020B0604020202020204" pitchFamily="34" charset="0"/>
              </a:rPr>
              <a:t> have been reordered more than once, indicating strong customer loyalty for many products.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A total of </a:t>
            </a:r>
            <a:r>
              <a:rPr kumimoji="0" lang="en-US" altLang="en-US" sz="1800" b="1" i="0" u="none" strike="noStrike" cap="none" normalizeH="0" baseline="0" dirty="0">
                <a:ln>
                  <a:noFill/>
                </a:ln>
                <a:solidFill>
                  <a:schemeClr val="tx1"/>
                </a:solidFill>
                <a:effectLst/>
                <a:latin typeface="Arial" panose="020B0604020202020204" pitchFamily="34" charset="0"/>
              </a:rPr>
              <a:t>628K reorder transactions</a:t>
            </a:r>
            <a:r>
              <a:rPr kumimoji="0" lang="en-US" altLang="en-US" sz="1800" b="0" i="0" u="none" strike="noStrike" cap="none" normalizeH="0" baseline="0" dirty="0">
                <a:ln>
                  <a:noFill/>
                </a:ln>
                <a:solidFill>
                  <a:schemeClr val="tx1"/>
                </a:solidFill>
                <a:effectLst/>
                <a:latin typeface="Arial" panose="020B0604020202020204" pitchFamily="34" charset="0"/>
              </a:rPr>
              <a:t> were recorded, with an overall </a:t>
            </a:r>
            <a:r>
              <a:rPr kumimoji="0" lang="en-US" altLang="en-US" sz="1800" b="1" i="0" u="none" strike="noStrike" cap="none" normalizeH="0" baseline="0" dirty="0">
                <a:ln>
                  <a:noFill/>
                </a:ln>
                <a:solidFill>
                  <a:schemeClr val="tx1"/>
                </a:solidFill>
                <a:effectLst/>
                <a:latin typeface="Arial" panose="020B0604020202020204" pitchFamily="34" charset="0"/>
              </a:rPr>
              <a:t>average reorder rate of 59.85%</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Milk, Water Seltzer Sparkling, and Fresh Fruits</a:t>
            </a:r>
            <a:r>
              <a:rPr kumimoji="0" lang="en-US" altLang="en-US" sz="1800" b="0" i="0" u="none" strike="noStrike" cap="none" normalizeH="0" baseline="0" dirty="0">
                <a:ln>
                  <a:noFill/>
                </a:ln>
                <a:solidFill>
                  <a:schemeClr val="tx1"/>
                </a:solidFill>
                <a:effectLst/>
                <a:latin typeface="Arial" panose="020B0604020202020204" pitchFamily="34" charset="0"/>
              </a:rPr>
              <a:t> have the highest reorder rates among aisles, all exceeding </a:t>
            </a:r>
            <a:r>
              <a:rPr kumimoji="0" lang="en-US" altLang="en-US" sz="1800" b="1" i="0" u="none" strike="noStrike" cap="none" normalizeH="0" baseline="0" dirty="0">
                <a:ln>
                  <a:noFill/>
                </a:ln>
                <a:solidFill>
                  <a:schemeClr val="tx1"/>
                </a:solidFill>
                <a:effectLst/>
                <a:latin typeface="Arial" panose="020B0604020202020204" pitchFamily="34" charset="0"/>
              </a:rPr>
              <a:t>70%</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Bananas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Bag of Organic Bananas</a:t>
            </a:r>
            <a:r>
              <a:rPr kumimoji="0" lang="en-US" altLang="en-US" sz="1800" b="0" i="0" u="none" strike="noStrike" cap="none" normalizeH="0" baseline="0" dirty="0">
                <a:ln>
                  <a:noFill/>
                </a:ln>
                <a:solidFill>
                  <a:schemeClr val="tx1"/>
                </a:solidFill>
                <a:effectLst/>
                <a:latin typeface="Arial" panose="020B0604020202020204" pitchFamily="34" charset="0"/>
              </a:rPr>
              <a:t> are the most frequently reordered products, followed by </a:t>
            </a:r>
            <a:r>
              <a:rPr kumimoji="0" lang="en-US" altLang="en-US" sz="1800" b="1" i="0" u="none" strike="noStrike" cap="none" normalizeH="0" baseline="0" dirty="0">
                <a:ln>
                  <a:noFill/>
                </a:ln>
                <a:solidFill>
                  <a:schemeClr val="tx1"/>
                </a:solidFill>
                <a:effectLst/>
                <a:latin typeface="Arial" panose="020B0604020202020204" pitchFamily="34" charset="0"/>
              </a:rPr>
              <a:t>Organic Strawberries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Organic Baby Spinach</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A small group of customers places the highest number of repeat orders, with the top user recording </a:t>
            </a:r>
            <a:r>
              <a:rPr kumimoji="0" lang="en-US" altLang="en-US" sz="1800" b="1" i="0" u="none" strike="noStrike" cap="none" normalizeH="0" baseline="0" dirty="0">
                <a:ln>
                  <a:noFill/>
                </a:ln>
                <a:solidFill>
                  <a:schemeClr val="tx1"/>
                </a:solidFill>
                <a:effectLst/>
                <a:latin typeface="Arial" panose="020B0604020202020204" pitchFamily="34" charset="0"/>
              </a:rPr>
              <a:t>60 reorders</a:t>
            </a:r>
            <a:r>
              <a:rPr lang="en-US" altLang="en-US" dirty="0">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9991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AE52B91-94C8-F769-B651-D1E855DCE7BC}"/>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Reorder Analyses Dashboard(Recommendations)</a:t>
            </a:r>
          </a:p>
        </p:txBody>
      </p:sp>
      <p:sp>
        <p:nvSpPr>
          <p:cNvPr id="6" name="TextBox 5">
            <a:extLst>
              <a:ext uri="{FF2B5EF4-FFF2-40B4-BE49-F238E27FC236}">
                <a16:creationId xmlns:a16="http://schemas.microsoft.com/office/drawing/2014/main" id="{6CDD299A-8825-B757-664E-B1043D1FF036}"/>
              </a:ext>
            </a:extLst>
          </p:cNvPr>
          <p:cNvSpPr txBox="1"/>
          <p:nvPr/>
        </p:nvSpPr>
        <p:spPr>
          <a:xfrm>
            <a:off x="0" y="951875"/>
            <a:ext cx="12192000" cy="5176866"/>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Recommendations:</a:t>
            </a:r>
          </a:p>
          <a:p>
            <a:endParaRPr lang="en-US" b="1" dirty="0"/>
          </a:p>
          <a:p>
            <a:pPr algn="just">
              <a:lnSpc>
                <a:spcPct val="150000"/>
              </a:lnSpc>
            </a:pPr>
            <a:r>
              <a:rPr lang="en-US" b="1" dirty="0">
                <a:solidFill>
                  <a:schemeClr val="accent1">
                    <a:lumMod val="60000"/>
                    <a:lumOff val="40000"/>
                  </a:schemeClr>
                </a:solidFill>
              </a:rPr>
              <a:t>      Maintain Stock for High-Reorder Products</a:t>
            </a:r>
          </a:p>
          <a:p>
            <a:pPr marL="285750" indent="-285750" algn="just">
              <a:lnSpc>
                <a:spcPct val="150000"/>
              </a:lnSpc>
              <a:buFont typeface="Wingdings" panose="05000000000000000000" pitchFamily="2" charset="2"/>
              <a:buChar char="Ø"/>
            </a:pPr>
            <a:r>
              <a:rPr lang="en-US" dirty="0"/>
              <a:t>Products such as </a:t>
            </a:r>
            <a:r>
              <a:rPr lang="en-US" b="1" dirty="0"/>
              <a:t>Bananas, Bag of Organic Bananas, Organic Strawberries, and Organic Baby Spinach</a:t>
            </a:r>
            <a:r>
              <a:rPr lang="en-US" dirty="0"/>
              <a:t> should receive priority in inventory planning. Their consistently high reorder frequency indicates stable customer demand, and preventing stock-outs will help maintain customer satisfaction and repeat sales.</a:t>
            </a:r>
          </a:p>
          <a:p>
            <a:pPr algn="just">
              <a:lnSpc>
                <a:spcPct val="150000"/>
              </a:lnSpc>
            </a:pPr>
            <a:r>
              <a:rPr lang="en-US" b="1" dirty="0"/>
              <a:t>      </a:t>
            </a:r>
            <a:r>
              <a:rPr lang="en-US" b="1" dirty="0">
                <a:solidFill>
                  <a:schemeClr val="accent1">
                    <a:lumMod val="60000"/>
                    <a:lumOff val="40000"/>
                  </a:schemeClr>
                </a:solidFill>
              </a:rPr>
              <a:t>Focus Marketing on High-Loyalty Categories</a:t>
            </a:r>
          </a:p>
          <a:p>
            <a:pPr marL="285750" indent="-285750" algn="just">
              <a:lnSpc>
                <a:spcPct val="150000"/>
              </a:lnSpc>
              <a:buFont typeface="Wingdings" panose="05000000000000000000" pitchFamily="2" charset="2"/>
              <a:buChar char="Ø"/>
            </a:pPr>
            <a:r>
              <a:rPr lang="en-US" dirty="0"/>
              <a:t>Aisles with high reorder rates, including </a:t>
            </a:r>
            <a:r>
              <a:rPr lang="en-US" b="1" dirty="0"/>
              <a:t>Milk, Fresh Fruits, Eggs, and Yogurt</a:t>
            </a:r>
            <a:r>
              <a:rPr lang="en-US" dirty="0"/>
              <a:t>, demonstrate strong customer loyalty. Personalized promotions, subscription options, and bundle offers for these categories can further strengthen repeat purchasing behavior.</a:t>
            </a:r>
          </a:p>
          <a:p>
            <a:pPr algn="just">
              <a:lnSpc>
                <a:spcPct val="150000"/>
              </a:lnSpc>
            </a:pPr>
            <a:r>
              <a:rPr lang="en-US" b="1" dirty="0">
                <a:solidFill>
                  <a:schemeClr val="accent1">
                    <a:lumMod val="60000"/>
                    <a:lumOff val="40000"/>
                  </a:schemeClr>
                </a:solidFill>
              </a:rPr>
              <a:t>      Develop Customer Retention Programs</a:t>
            </a:r>
          </a:p>
          <a:p>
            <a:pPr marL="285750" indent="-285750" algn="just">
              <a:lnSpc>
                <a:spcPct val="150000"/>
              </a:lnSpc>
              <a:buFont typeface="Wingdings" panose="05000000000000000000" pitchFamily="2" charset="2"/>
              <a:buChar char="Ø"/>
            </a:pPr>
            <a:r>
              <a:rPr lang="en-US" dirty="0"/>
              <a:t>Since the overall reorder rate is </a:t>
            </a:r>
            <a:r>
              <a:rPr lang="en-US" b="1" dirty="0"/>
              <a:t>59.85%</a:t>
            </a:r>
            <a:r>
              <a:rPr lang="en-US" dirty="0"/>
              <a:t>, introducing loyalty rewards, personalized coupons, and repeat-purchase incentives can encourage more first-time buyers to become repeat customers and further improve retention.</a:t>
            </a:r>
          </a:p>
        </p:txBody>
      </p:sp>
    </p:spTree>
    <p:extLst>
      <p:ext uri="{BB962C8B-B14F-4D97-AF65-F5344CB8AC3E}">
        <p14:creationId xmlns:p14="http://schemas.microsoft.com/office/powerpoint/2010/main" val="32690223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979F20-6818-BD62-40A2-2554A9AD3185}"/>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Reorder Analyses Dashboard(Recommendations)</a:t>
            </a:r>
          </a:p>
        </p:txBody>
      </p:sp>
      <p:sp>
        <p:nvSpPr>
          <p:cNvPr id="6" name="TextBox 5">
            <a:extLst>
              <a:ext uri="{FF2B5EF4-FFF2-40B4-BE49-F238E27FC236}">
                <a16:creationId xmlns:a16="http://schemas.microsoft.com/office/drawing/2014/main" id="{2674519E-32BA-5E65-31BD-8341CAAFEB44}"/>
              </a:ext>
            </a:extLst>
          </p:cNvPr>
          <p:cNvSpPr txBox="1"/>
          <p:nvPr/>
        </p:nvSpPr>
        <p:spPr>
          <a:xfrm>
            <a:off x="-1" y="787399"/>
            <a:ext cx="11991975" cy="2960875"/>
          </a:xfrm>
          <a:prstGeom prst="rect">
            <a:avLst/>
          </a:prstGeom>
          <a:noFill/>
        </p:spPr>
        <p:txBody>
          <a:bodyPr wrap="square">
            <a:spAutoFit/>
          </a:bodyPr>
          <a:lstStyle/>
          <a:p>
            <a:pPr algn="just">
              <a:lnSpc>
                <a:spcPct val="150000"/>
              </a:lnSpc>
            </a:pPr>
            <a:r>
              <a:rPr lang="en-US" b="1" dirty="0">
                <a:solidFill>
                  <a:schemeClr val="accent1">
                    <a:lumMod val="60000"/>
                    <a:lumOff val="40000"/>
                  </a:schemeClr>
                </a:solidFill>
              </a:rPr>
              <a:t>       Reward High-Value Customers</a:t>
            </a:r>
          </a:p>
          <a:p>
            <a:pPr marL="285750" indent="-285750" algn="just">
              <a:lnSpc>
                <a:spcPct val="150000"/>
              </a:lnSpc>
              <a:buFont typeface="Wingdings" panose="05000000000000000000" pitchFamily="2" charset="2"/>
              <a:buChar char="Ø"/>
            </a:pPr>
            <a:r>
              <a:rPr lang="en-US" dirty="0"/>
              <a:t>The top customers consistently place a large number of repeat orders. Offering exclusive discounts, early access to promotions, or membership benefits can help retain these valuable customers and increase their lifetime value.</a:t>
            </a:r>
          </a:p>
          <a:p>
            <a:pPr algn="just">
              <a:lnSpc>
                <a:spcPct val="150000"/>
              </a:lnSpc>
            </a:pPr>
            <a:r>
              <a:rPr lang="en-US" b="1" dirty="0"/>
              <a:t>      </a:t>
            </a:r>
            <a:r>
              <a:rPr lang="en-US" b="1" dirty="0">
                <a:solidFill>
                  <a:schemeClr val="accent1">
                    <a:lumMod val="60000"/>
                    <a:lumOff val="40000"/>
                  </a:schemeClr>
                </a:solidFill>
              </a:rPr>
              <a:t>Improve Performance of Low-Reorder Categories</a:t>
            </a:r>
          </a:p>
          <a:p>
            <a:pPr marL="285750" indent="-285750" algn="just">
              <a:lnSpc>
                <a:spcPct val="150000"/>
              </a:lnSpc>
              <a:buFont typeface="Wingdings" panose="05000000000000000000" pitchFamily="2" charset="2"/>
              <a:buChar char="Ø"/>
            </a:pPr>
            <a:r>
              <a:rPr lang="en-US" dirty="0"/>
              <a:t>Departments and products with relatively lower reorder activity should be analyzed to identify possible issues such as pricing, product quality, availability, or customer preferences. Targeted promotional campaigns and improved product visibility can help increase repeat purchases in these categories.</a:t>
            </a:r>
          </a:p>
        </p:txBody>
      </p:sp>
    </p:spTree>
    <p:extLst>
      <p:ext uri="{BB962C8B-B14F-4D97-AF65-F5344CB8AC3E}">
        <p14:creationId xmlns:p14="http://schemas.microsoft.com/office/powerpoint/2010/main" val="4719657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C8BED51-1D52-9A7A-CA27-879921D2EFFF}"/>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Customer Analyses Dashboard</a:t>
            </a:r>
          </a:p>
        </p:txBody>
      </p:sp>
      <p:pic>
        <p:nvPicPr>
          <p:cNvPr id="6" name="Picture 5">
            <a:extLst>
              <a:ext uri="{FF2B5EF4-FFF2-40B4-BE49-F238E27FC236}">
                <a16:creationId xmlns:a16="http://schemas.microsoft.com/office/drawing/2014/main" id="{234A45F3-5E14-03F7-3AD2-6EF4A86ED6CF}"/>
              </a:ext>
            </a:extLst>
          </p:cNvPr>
          <p:cNvPicPr>
            <a:picLocks noChangeAspect="1"/>
          </p:cNvPicPr>
          <p:nvPr/>
        </p:nvPicPr>
        <p:blipFill>
          <a:blip r:embed="rId2">
            <a:extLst>
              <a:ext uri="{28A0092B-C50C-407E-A947-70E740481C1C}">
                <a14:useLocalDpi xmlns:a14="http://schemas.microsoft.com/office/drawing/2010/main" val="0"/>
              </a:ext>
            </a:extLst>
          </a:blip>
          <a:srcRect l="977" t="449" r="761"/>
          <a:stretch/>
        </p:blipFill>
        <p:spPr>
          <a:xfrm>
            <a:off x="-1" y="787399"/>
            <a:ext cx="12191999" cy="6070601"/>
          </a:xfrm>
          <a:prstGeom prst="rect">
            <a:avLst/>
          </a:prstGeom>
        </p:spPr>
      </p:pic>
    </p:spTree>
    <p:extLst>
      <p:ext uri="{BB962C8B-B14F-4D97-AF65-F5344CB8AC3E}">
        <p14:creationId xmlns:p14="http://schemas.microsoft.com/office/powerpoint/2010/main" val="12289175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FBAAEF1-C05D-D038-D606-90A1D5607283}"/>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Customer Analyses Dashboard(Insights)</a:t>
            </a:r>
          </a:p>
        </p:txBody>
      </p:sp>
      <p:sp>
        <p:nvSpPr>
          <p:cNvPr id="2" name="Rectangle 1">
            <a:extLst>
              <a:ext uri="{FF2B5EF4-FFF2-40B4-BE49-F238E27FC236}">
                <a16:creationId xmlns:a16="http://schemas.microsoft.com/office/drawing/2014/main" id="{201ECF8F-BB9E-8CB9-8D25-091BD6979E56}"/>
              </a:ext>
            </a:extLst>
          </p:cNvPr>
          <p:cNvSpPr>
            <a:spLocks noChangeArrowheads="1"/>
          </p:cNvSpPr>
          <p:nvPr/>
        </p:nvSpPr>
        <p:spPr bwMode="auto">
          <a:xfrm>
            <a:off x="89225" y="1212084"/>
            <a:ext cx="11443412" cy="3503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contains </a:t>
            </a:r>
            <a:r>
              <a:rPr kumimoji="0" lang="en-US" altLang="en-US" sz="1800" b="1" i="0" u="none" strike="noStrike" cap="none" normalizeH="0" baseline="0" dirty="0">
                <a:ln>
                  <a:noFill/>
                </a:ln>
                <a:solidFill>
                  <a:schemeClr val="tx1"/>
                </a:solidFill>
                <a:effectLst/>
                <a:latin typeface="Arial" panose="020B0604020202020204" pitchFamily="34" charset="0"/>
              </a:rPr>
              <a:t>1.049 million orders</a:t>
            </a:r>
            <a:r>
              <a:rPr kumimoji="0" lang="en-US" altLang="en-US" sz="1800" b="0" i="0" u="none" strike="noStrike" cap="none" normalizeH="0" baseline="0" dirty="0">
                <a:ln>
                  <a:noFill/>
                </a:ln>
                <a:solidFill>
                  <a:schemeClr val="tx1"/>
                </a:solidFill>
                <a:effectLst/>
                <a:latin typeface="Arial" panose="020B0604020202020204" pitchFamily="34" charset="0"/>
              </a:rPr>
              <a:t> placed by </a:t>
            </a:r>
            <a:r>
              <a:rPr kumimoji="0" lang="en-US" altLang="en-US" sz="1800" b="1" i="0" u="none" strike="noStrike" cap="none" normalizeH="0" baseline="0" dirty="0">
                <a:ln>
                  <a:noFill/>
                </a:ln>
                <a:solidFill>
                  <a:schemeClr val="tx1"/>
                </a:solidFill>
                <a:effectLst/>
                <a:latin typeface="Arial" panose="020B0604020202020204" pitchFamily="34" charset="0"/>
              </a:rPr>
              <a:t>63,100 unique users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A small group of customers places significantly more orders, with the top customer completing </a:t>
            </a:r>
            <a:r>
              <a:rPr kumimoji="0" lang="en-US" altLang="en-US" sz="1800" b="1" i="0" u="none" strike="noStrike" cap="none" normalizeH="0" baseline="0" dirty="0">
                <a:ln>
                  <a:noFill/>
                </a:ln>
                <a:solidFill>
                  <a:schemeClr val="tx1"/>
                </a:solidFill>
                <a:effectLst/>
                <a:latin typeface="Arial" panose="020B0604020202020204" pitchFamily="34" charset="0"/>
              </a:rPr>
              <a:t>74 orders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Produce</a:t>
            </a:r>
            <a:r>
              <a:rPr kumimoji="0" lang="en-US" altLang="en-US" sz="1800" b="0" i="0" u="none" strike="noStrike" cap="none" normalizeH="0" baseline="0" dirty="0">
                <a:ln>
                  <a:noFill/>
                </a:ln>
                <a:solidFill>
                  <a:schemeClr val="tx1"/>
                </a:solidFill>
                <a:effectLst/>
                <a:latin typeface="Arial" panose="020B0604020202020204" pitchFamily="34" charset="0"/>
              </a:rPr>
              <a:t> department has the highest number of users and orders, making it the most popular department.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Fresh Fruits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Fresh Vegetables</a:t>
            </a:r>
            <a:r>
              <a:rPr kumimoji="0" lang="en-US" altLang="en-US" sz="1800" b="0" i="0" u="none" strike="noStrike" cap="none" normalizeH="0" baseline="0" dirty="0">
                <a:ln>
                  <a:noFill/>
                </a:ln>
                <a:solidFill>
                  <a:schemeClr val="tx1"/>
                </a:solidFill>
                <a:effectLst/>
                <a:latin typeface="Arial" panose="020B0604020202020204" pitchFamily="34" charset="0"/>
              </a:rPr>
              <a:t> are the most preferred aisles among customers.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Order activity is concentrated in a few departments, while categories such as </a:t>
            </a:r>
            <a:r>
              <a:rPr kumimoji="0" lang="en-US" altLang="en-US" sz="1800" b="1" i="0" u="none" strike="noStrike" cap="none" normalizeH="0" baseline="0" dirty="0">
                <a:ln>
                  <a:noFill/>
                </a:ln>
                <a:solidFill>
                  <a:schemeClr val="tx1"/>
                </a:solidFill>
                <a:effectLst/>
                <a:latin typeface="Arial" panose="020B0604020202020204" pitchFamily="34" charset="0"/>
              </a:rPr>
              <a:t>Deli</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Dry Goods Pasta</a:t>
            </a:r>
            <a:r>
              <a:rPr kumimoji="0" lang="en-US" altLang="en-US" sz="1800" b="0" i="0" u="none" strike="noStrike" cap="none" normalizeH="0" baseline="0" dirty="0">
                <a:ln>
                  <a:noFill/>
                </a:ln>
                <a:solidFill>
                  <a:schemeClr val="tx1"/>
                </a:solidFill>
                <a:effectLst/>
                <a:latin typeface="Arial" panose="020B0604020202020204" pitchFamily="34" charset="0"/>
              </a:rPr>
              <a:t> receive comparatively fewer orders. </a:t>
            </a:r>
          </a:p>
        </p:txBody>
      </p:sp>
    </p:spTree>
    <p:extLst>
      <p:ext uri="{BB962C8B-B14F-4D97-AF65-F5344CB8AC3E}">
        <p14:creationId xmlns:p14="http://schemas.microsoft.com/office/powerpoint/2010/main" val="2651655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AD3FFAA-1D21-3921-CA0A-93B313A2F56D}"/>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Customer Analyses Dashboard(Recommendations)</a:t>
            </a:r>
          </a:p>
        </p:txBody>
      </p:sp>
      <p:sp>
        <p:nvSpPr>
          <p:cNvPr id="3" name="TextBox 2">
            <a:extLst>
              <a:ext uri="{FF2B5EF4-FFF2-40B4-BE49-F238E27FC236}">
                <a16:creationId xmlns:a16="http://schemas.microsoft.com/office/drawing/2014/main" id="{91C80F10-01CB-6881-9320-4D8FB35D0585}"/>
              </a:ext>
            </a:extLst>
          </p:cNvPr>
          <p:cNvSpPr txBox="1"/>
          <p:nvPr/>
        </p:nvSpPr>
        <p:spPr>
          <a:xfrm>
            <a:off x="0" y="787399"/>
            <a:ext cx="11972730" cy="5592365"/>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Recommendations:</a:t>
            </a:r>
          </a:p>
          <a:p>
            <a:endParaRPr lang="en-US" b="1" dirty="0"/>
          </a:p>
          <a:p>
            <a:pPr algn="just">
              <a:lnSpc>
                <a:spcPct val="150000"/>
              </a:lnSpc>
            </a:pPr>
            <a:r>
              <a:rPr lang="en-US" b="1" dirty="0"/>
              <a:t>       </a:t>
            </a:r>
            <a:r>
              <a:rPr lang="en-US" b="1" dirty="0">
                <a:solidFill>
                  <a:schemeClr val="accent1">
                    <a:lumMod val="60000"/>
                    <a:lumOff val="40000"/>
                  </a:schemeClr>
                </a:solidFill>
              </a:rPr>
              <a:t>Strengthen Customer Loyalty Programs</a:t>
            </a:r>
          </a:p>
          <a:p>
            <a:pPr marL="285750" indent="-285750" algn="just">
              <a:lnSpc>
                <a:spcPct val="150000"/>
              </a:lnSpc>
              <a:buFont typeface="Wingdings" panose="05000000000000000000" pitchFamily="2" charset="2"/>
              <a:buChar char="Ø"/>
            </a:pPr>
            <a:r>
              <a:rPr lang="en-US" dirty="0"/>
              <a:t>The top customers contribute a significant number of orders, indicating strong customer loyalty. Introduce reward programs, exclusive discounts, and personalized offers to retain these high-value customers and encourage them to continue purchasing frequently.</a:t>
            </a:r>
          </a:p>
          <a:p>
            <a:pPr algn="just">
              <a:lnSpc>
                <a:spcPct val="150000"/>
              </a:lnSpc>
            </a:pPr>
            <a:r>
              <a:rPr lang="en-US" b="1" dirty="0"/>
              <a:t>       </a:t>
            </a:r>
            <a:r>
              <a:rPr lang="en-US" b="1" dirty="0">
                <a:solidFill>
                  <a:schemeClr val="accent1">
                    <a:lumMod val="60000"/>
                    <a:lumOff val="40000"/>
                  </a:schemeClr>
                </a:solidFill>
              </a:rPr>
              <a:t>Focus Inventory on High-Demand Departments</a:t>
            </a:r>
          </a:p>
          <a:p>
            <a:pPr marL="285750" indent="-285750" algn="just">
              <a:lnSpc>
                <a:spcPct val="150000"/>
              </a:lnSpc>
              <a:buFont typeface="Wingdings" panose="05000000000000000000" pitchFamily="2" charset="2"/>
              <a:buChar char="Ø"/>
            </a:pPr>
            <a:r>
              <a:rPr lang="en-US" dirty="0"/>
              <a:t>The </a:t>
            </a:r>
            <a:r>
              <a:rPr lang="en-US" b="1" dirty="0"/>
              <a:t>Produce</a:t>
            </a:r>
            <a:r>
              <a:rPr lang="en-US" dirty="0"/>
              <a:t> department consistently attracts the largest number of customers and orders. Maintaining adequate inventory levels and ensuring product availability in this department will help improve customer satisfaction and reduce missed sales opportunities.</a:t>
            </a:r>
          </a:p>
          <a:p>
            <a:pPr algn="just">
              <a:lnSpc>
                <a:spcPct val="150000"/>
              </a:lnSpc>
            </a:pPr>
            <a:r>
              <a:rPr lang="en-US" b="1" dirty="0"/>
              <a:t>       </a:t>
            </a:r>
            <a:r>
              <a:rPr lang="en-US" b="1" dirty="0">
                <a:solidFill>
                  <a:schemeClr val="accent1">
                    <a:lumMod val="60000"/>
                    <a:lumOff val="40000"/>
                  </a:schemeClr>
                </a:solidFill>
              </a:rPr>
              <a:t>Enhance Cross-Selling Across Popular Aisles</a:t>
            </a:r>
          </a:p>
          <a:p>
            <a:pPr marL="285750" indent="-285750" algn="just">
              <a:lnSpc>
                <a:spcPct val="150000"/>
              </a:lnSpc>
              <a:buFont typeface="Wingdings" panose="05000000000000000000" pitchFamily="2" charset="2"/>
              <a:buChar char="Ø"/>
            </a:pPr>
            <a:r>
              <a:rPr lang="en-US" dirty="0"/>
              <a:t>Since </a:t>
            </a:r>
            <a:r>
              <a:rPr lang="en-US" b="1" dirty="0"/>
              <a:t>Fresh Fruits</a:t>
            </a:r>
            <a:r>
              <a:rPr lang="en-US" dirty="0"/>
              <a:t> and </a:t>
            </a:r>
            <a:r>
              <a:rPr lang="en-US" b="1" dirty="0"/>
              <a:t>Fresh Vegetables</a:t>
            </a:r>
            <a:r>
              <a:rPr lang="en-US" dirty="0"/>
              <a:t> are the most visited aisles, recommend complementary products such as dairy items, beverages, and packaged foods during shopping or checkout. This can increase basket size and improve overall sales.</a:t>
            </a:r>
          </a:p>
        </p:txBody>
      </p:sp>
    </p:spTree>
    <p:extLst>
      <p:ext uri="{BB962C8B-B14F-4D97-AF65-F5344CB8AC3E}">
        <p14:creationId xmlns:p14="http://schemas.microsoft.com/office/powerpoint/2010/main" val="28850115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04BB5B4-8D6A-F904-9CC7-E77D0EBE3EC2}"/>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Customer Analyses Dashboard(recommendations)</a:t>
            </a:r>
          </a:p>
        </p:txBody>
      </p:sp>
      <p:sp>
        <p:nvSpPr>
          <p:cNvPr id="3" name="TextBox 2">
            <a:extLst>
              <a:ext uri="{FF2B5EF4-FFF2-40B4-BE49-F238E27FC236}">
                <a16:creationId xmlns:a16="http://schemas.microsoft.com/office/drawing/2014/main" id="{50CD5CC6-5129-628A-E238-EAE98B1DF1D2}"/>
              </a:ext>
            </a:extLst>
          </p:cNvPr>
          <p:cNvSpPr txBox="1"/>
          <p:nvPr/>
        </p:nvSpPr>
        <p:spPr>
          <a:xfrm>
            <a:off x="0" y="787399"/>
            <a:ext cx="11831216" cy="3376374"/>
          </a:xfrm>
          <a:prstGeom prst="rect">
            <a:avLst/>
          </a:prstGeom>
          <a:noFill/>
        </p:spPr>
        <p:txBody>
          <a:bodyPr wrap="square">
            <a:spAutoFit/>
          </a:bodyPr>
          <a:lstStyle/>
          <a:p>
            <a:pPr algn="just">
              <a:lnSpc>
                <a:spcPct val="150000"/>
              </a:lnSpc>
            </a:pPr>
            <a:r>
              <a:rPr lang="en-US" b="1" dirty="0">
                <a:solidFill>
                  <a:schemeClr val="accent1">
                    <a:lumMod val="60000"/>
                    <a:lumOff val="40000"/>
                  </a:schemeClr>
                </a:solidFill>
              </a:rPr>
              <a:t>       Improve Performance of Low-Demand Categories</a:t>
            </a:r>
          </a:p>
          <a:p>
            <a:pPr marL="285750" indent="-285750" algn="just">
              <a:lnSpc>
                <a:spcPct val="150000"/>
              </a:lnSpc>
              <a:buFont typeface="Wingdings" panose="05000000000000000000" pitchFamily="2" charset="2"/>
              <a:buChar char="Ø"/>
            </a:pPr>
            <a:r>
              <a:rPr lang="en-US" dirty="0"/>
              <a:t>Departments with comparatively lower customer activity should be evaluated to identify possible reasons such as limited product variety, pricing, or visibility. Promotional campaigns, better product placement, and category-specific discounts can help improve their performance.</a:t>
            </a:r>
          </a:p>
          <a:p>
            <a:pPr algn="just">
              <a:lnSpc>
                <a:spcPct val="150000"/>
              </a:lnSpc>
            </a:pPr>
            <a:r>
              <a:rPr lang="en-US" b="1" dirty="0"/>
              <a:t>       </a:t>
            </a:r>
            <a:r>
              <a:rPr lang="en-US" b="1" dirty="0">
                <a:solidFill>
                  <a:schemeClr val="accent1">
                    <a:lumMod val="60000"/>
                    <a:lumOff val="40000"/>
                  </a:schemeClr>
                </a:solidFill>
              </a:rPr>
              <a:t>Personalize Marketing Based on Customer Behavior</a:t>
            </a:r>
          </a:p>
          <a:p>
            <a:pPr marL="285750" indent="-285750" algn="just">
              <a:lnSpc>
                <a:spcPct val="150000"/>
              </a:lnSpc>
              <a:buFont typeface="Wingdings" panose="05000000000000000000" pitchFamily="2" charset="2"/>
              <a:buChar char="Ø"/>
            </a:pPr>
            <a:r>
              <a:rPr lang="en-US" dirty="0"/>
              <a:t>Use customers' purchase history and department preferences to deliver targeted recommendations and personalized promotions. This approach can improve customer engagement, increase repeat purchases, and strengthen long-term customer relationships.</a:t>
            </a:r>
          </a:p>
        </p:txBody>
      </p:sp>
    </p:spTree>
    <p:extLst>
      <p:ext uri="{BB962C8B-B14F-4D97-AF65-F5344CB8AC3E}">
        <p14:creationId xmlns:p14="http://schemas.microsoft.com/office/powerpoint/2010/main" val="34726592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B497C73-656A-EED5-301F-5DF248A54889}"/>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Key Findings</a:t>
            </a:r>
          </a:p>
        </p:txBody>
      </p:sp>
      <p:sp>
        <p:nvSpPr>
          <p:cNvPr id="2" name="Rectangle 1">
            <a:extLst>
              <a:ext uri="{FF2B5EF4-FFF2-40B4-BE49-F238E27FC236}">
                <a16:creationId xmlns:a16="http://schemas.microsoft.com/office/drawing/2014/main" id="{716890B0-545B-F58C-5C8D-59F74C20DC4A}"/>
              </a:ext>
            </a:extLst>
          </p:cNvPr>
          <p:cNvSpPr>
            <a:spLocks noChangeArrowheads="1"/>
          </p:cNvSpPr>
          <p:nvPr/>
        </p:nvSpPr>
        <p:spPr bwMode="auto">
          <a:xfrm>
            <a:off x="65315" y="925841"/>
            <a:ext cx="11756571" cy="4334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accent2"/>
                </a:solidFill>
                <a:effectLst/>
                <a:latin typeface="Arial" panose="020B0604020202020204" pitchFamily="34" charset="0"/>
              </a:rPr>
              <a:t>KEY FINDINGS: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contains </a:t>
            </a:r>
            <a:r>
              <a:rPr kumimoji="0" lang="en-US" altLang="en-US" sz="1800" b="1" i="0" u="none" strike="noStrike" cap="none" normalizeH="0" baseline="0" dirty="0">
                <a:ln>
                  <a:noFill/>
                </a:ln>
                <a:solidFill>
                  <a:schemeClr val="tx1"/>
                </a:solidFill>
                <a:effectLst/>
                <a:latin typeface="Arial" panose="020B0604020202020204" pitchFamily="34" charset="0"/>
              </a:rPr>
              <a:t>1.049 million orders</a:t>
            </a:r>
            <a:r>
              <a:rPr kumimoji="0" lang="en-US" altLang="en-US" sz="1800" b="0" i="0" u="none" strike="noStrike" cap="none" normalizeH="0" baseline="0" dirty="0">
                <a:ln>
                  <a:noFill/>
                </a:ln>
                <a:solidFill>
                  <a:schemeClr val="tx1"/>
                </a:solidFill>
                <a:effectLst/>
                <a:latin typeface="Arial" panose="020B0604020202020204" pitchFamily="34" charset="0"/>
              </a:rPr>
              <a:t> placed by </a:t>
            </a:r>
            <a:r>
              <a:rPr kumimoji="0" lang="en-US" altLang="en-US" sz="1800" b="1" i="0" u="none" strike="noStrike" cap="none" normalizeH="0" baseline="0" dirty="0">
                <a:ln>
                  <a:noFill/>
                </a:ln>
                <a:solidFill>
                  <a:schemeClr val="tx1"/>
                </a:solidFill>
                <a:effectLst/>
                <a:latin typeface="Arial" panose="020B0604020202020204" pitchFamily="34" charset="0"/>
              </a:rPr>
              <a:t>63,100 unique users</a:t>
            </a:r>
            <a:r>
              <a:rPr kumimoji="0" lang="en-US" altLang="en-US" sz="1800" b="0" i="0" u="none" strike="noStrike" cap="none" normalizeH="0" baseline="0" dirty="0">
                <a:ln>
                  <a:noFill/>
                </a:ln>
                <a:solidFill>
                  <a:schemeClr val="tx1"/>
                </a:solidFill>
                <a:effectLst/>
                <a:latin typeface="Arial" panose="020B0604020202020204" pitchFamily="34" charset="0"/>
              </a:rPr>
              <a:t> across </a:t>
            </a:r>
            <a:r>
              <a:rPr kumimoji="0" lang="en-US" altLang="en-US" sz="1800" b="1" i="0" u="none" strike="noStrike" cap="none" normalizeH="0" baseline="0" dirty="0">
                <a:ln>
                  <a:noFill/>
                </a:ln>
                <a:solidFill>
                  <a:schemeClr val="tx1"/>
                </a:solidFill>
                <a:effectLst/>
                <a:latin typeface="Arial" panose="020B0604020202020204" pitchFamily="34" charset="0"/>
              </a:rPr>
              <a:t>49K products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134 aisles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21 departments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Customers purchase an average of </a:t>
            </a:r>
            <a:r>
              <a:rPr kumimoji="0" lang="en-US" altLang="en-US" sz="1800" b="1" i="0" u="none" strike="noStrike" cap="none" normalizeH="0" baseline="0" dirty="0">
                <a:ln>
                  <a:noFill/>
                </a:ln>
                <a:solidFill>
                  <a:schemeClr val="tx1"/>
                </a:solidFill>
                <a:effectLst/>
                <a:latin typeface="Arial" panose="020B0604020202020204" pitchFamily="34" charset="0"/>
              </a:rPr>
              <a:t>10.53 products per order</a:t>
            </a:r>
            <a:r>
              <a:rPr kumimoji="0" lang="en-US" altLang="en-US" sz="1800" b="0" i="0" u="none" strike="noStrike" cap="none" normalizeH="0" baseline="0" dirty="0">
                <a:ln>
                  <a:noFill/>
                </a:ln>
                <a:solidFill>
                  <a:schemeClr val="tx1"/>
                </a:solidFill>
                <a:effectLst/>
                <a:latin typeface="Arial" panose="020B0604020202020204" pitchFamily="34" charset="0"/>
              </a:rPr>
              <a:t> and place repeat orders approximately every </a:t>
            </a:r>
            <a:r>
              <a:rPr kumimoji="0" lang="en-US" altLang="en-US" sz="1800" b="1" i="0" u="none" strike="noStrike" cap="none" normalizeH="0" baseline="0" dirty="0">
                <a:ln>
                  <a:noFill/>
                </a:ln>
                <a:solidFill>
                  <a:schemeClr val="tx1"/>
                </a:solidFill>
                <a:effectLst/>
                <a:latin typeface="Arial" panose="020B0604020202020204" pitchFamily="34" charset="0"/>
              </a:rPr>
              <a:t>11 days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Banana</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Bag of Organic Bananas</a:t>
            </a:r>
            <a:r>
              <a:rPr kumimoji="0" lang="en-US" altLang="en-US" sz="1800" b="0" i="0" u="none" strike="noStrike" cap="none" normalizeH="0" baseline="0" dirty="0">
                <a:ln>
                  <a:noFill/>
                </a:ln>
                <a:solidFill>
                  <a:schemeClr val="tx1"/>
                </a:solidFill>
                <a:effectLst/>
                <a:latin typeface="Arial" panose="020B0604020202020204" pitchFamily="34" charset="0"/>
              </a:rPr>
              <a:t> are the most ordered and most frequently reordered products.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Produce, Personal Care, Snacks, and Pantry</a:t>
            </a:r>
            <a:r>
              <a:rPr kumimoji="0" lang="en-US" altLang="en-US" sz="1800" b="0" i="0" u="none" strike="noStrike" cap="none" normalizeH="0" baseline="0" dirty="0">
                <a:ln>
                  <a:noFill/>
                </a:ln>
                <a:solidFill>
                  <a:schemeClr val="tx1"/>
                </a:solidFill>
                <a:effectLst/>
                <a:latin typeface="Arial" panose="020B0604020202020204" pitchFamily="34" charset="0"/>
              </a:rPr>
              <a:t> are the highest-performing departments in terms of products, users, and orders.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Approximately </a:t>
            </a:r>
            <a:r>
              <a:rPr kumimoji="0" lang="en-US" altLang="en-US" sz="1800" b="1" i="0" u="none" strike="noStrike" cap="none" normalizeH="0" baseline="0" dirty="0">
                <a:ln>
                  <a:noFill/>
                </a:ln>
                <a:solidFill>
                  <a:schemeClr val="tx1"/>
                </a:solidFill>
                <a:effectLst/>
                <a:latin typeface="Arial" panose="020B0604020202020204" pitchFamily="34" charset="0"/>
              </a:rPr>
              <a:t>628K reorder transactions</a:t>
            </a:r>
            <a:r>
              <a:rPr kumimoji="0" lang="en-US" altLang="en-US" sz="1800" b="0" i="0" u="none" strike="noStrike" cap="none" normalizeH="0" baseline="0" dirty="0">
                <a:ln>
                  <a:noFill/>
                </a:ln>
                <a:solidFill>
                  <a:schemeClr val="tx1"/>
                </a:solidFill>
                <a:effectLst/>
                <a:latin typeface="Arial" panose="020B0604020202020204" pitchFamily="34" charset="0"/>
              </a:rPr>
              <a:t> were recorded, with an average reorder rate of </a:t>
            </a:r>
            <a:r>
              <a:rPr kumimoji="0" lang="en-US" altLang="en-US" sz="1800" b="1" i="0" u="none" strike="noStrike" cap="none" normalizeH="0" baseline="0" dirty="0">
                <a:ln>
                  <a:noFill/>
                </a:ln>
                <a:solidFill>
                  <a:schemeClr val="tx1"/>
                </a:solidFill>
                <a:effectLst/>
                <a:latin typeface="Arial" panose="020B0604020202020204" pitchFamily="34" charset="0"/>
              </a:rPr>
              <a:t>59.85%</a:t>
            </a:r>
            <a:r>
              <a:rPr kumimoji="0" lang="en-US" altLang="en-US" sz="1800" b="0" i="0" u="none" strike="noStrike" cap="none" normalizeH="0" baseline="0" dirty="0">
                <a:ln>
                  <a:noFill/>
                </a:ln>
                <a:solidFill>
                  <a:schemeClr val="tx1"/>
                </a:solidFill>
                <a:effectLst/>
                <a:latin typeface="Arial" panose="020B0604020202020204" pitchFamily="34" charset="0"/>
              </a:rPr>
              <a:t>, indicating strong customer loyalty. </a:t>
            </a:r>
          </a:p>
        </p:txBody>
      </p:sp>
    </p:spTree>
    <p:extLst>
      <p:ext uri="{BB962C8B-B14F-4D97-AF65-F5344CB8AC3E}">
        <p14:creationId xmlns:p14="http://schemas.microsoft.com/office/powerpoint/2010/main" val="35600221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8DFCB2F-18E2-875B-D59C-E693DFE56F40}"/>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Challenges Faced</a:t>
            </a:r>
          </a:p>
        </p:txBody>
      </p:sp>
      <p:sp>
        <p:nvSpPr>
          <p:cNvPr id="2" name="Rectangle 1">
            <a:extLst>
              <a:ext uri="{FF2B5EF4-FFF2-40B4-BE49-F238E27FC236}">
                <a16:creationId xmlns:a16="http://schemas.microsoft.com/office/drawing/2014/main" id="{E21D13F6-D4D7-79D3-C2C8-057B04DA9DAD}"/>
              </a:ext>
            </a:extLst>
          </p:cNvPr>
          <p:cNvSpPr>
            <a:spLocks noChangeArrowheads="1"/>
          </p:cNvSpPr>
          <p:nvPr/>
        </p:nvSpPr>
        <p:spPr bwMode="auto">
          <a:xfrm>
            <a:off x="223935" y="787399"/>
            <a:ext cx="11411338" cy="3650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Merged multiple datasets using primary and foreign keys while maintaining correct relationships.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Created DAX measures for KPIs such as average order size, reorder rate, average days between orders, and products per order.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Designed an interactive Power BI dashboard with slicers, navigation buttons, and consistent formatting.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Resolved issues related to incorrect relationships, filter context, and DAX calculations during dashboard development.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tx1"/>
                </a:solidFill>
                <a:effectLst/>
                <a:latin typeface="Arial" panose="020B0604020202020204" pitchFamily="34" charset="0"/>
              </a:rPr>
              <a:t>The provided database did not include the </a:t>
            </a:r>
            <a:r>
              <a:rPr kumimoji="0" lang="en-US" altLang="en-US" b="1" i="0" u="none" strike="noStrike" cap="none" normalizeH="0" baseline="0" dirty="0" err="1">
                <a:ln>
                  <a:noFill/>
                </a:ln>
                <a:solidFill>
                  <a:schemeClr val="tx1"/>
                </a:solidFill>
                <a:effectLst/>
                <a:latin typeface="Arial Unicode MS"/>
              </a:rPr>
              <a:t>order_products</a:t>
            </a:r>
            <a:r>
              <a:rPr lang="en-US" altLang="en-US" b="1" dirty="0" err="1">
                <a:latin typeface="Arial Unicode MS"/>
              </a:rPr>
              <a:t>_</a:t>
            </a:r>
            <a:r>
              <a:rPr kumimoji="0" lang="en-US" altLang="en-US" b="1" i="0" u="none" strike="noStrike" cap="none" normalizeH="0" baseline="0" dirty="0" err="1">
                <a:ln>
                  <a:noFill/>
                </a:ln>
                <a:solidFill>
                  <a:schemeClr val="tx1"/>
                </a:solidFill>
                <a:effectLst/>
                <a:latin typeface="Arial Unicode MS"/>
              </a:rPr>
              <a:t>prior</a:t>
            </a:r>
            <a:r>
              <a:rPr kumimoji="0" lang="en-US" altLang="en-US" b="0" i="0" u="none" strike="noStrike" cap="none" normalizeH="0" baseline="0" dirty="0">
                <a:ln>
                  <a:noFill/>
                </a:ln>
                <a:solidFill>
                  <a:schemeClr val="tx1"/>
                </a:solidFill>
                <a:effectLst/>
              </a:rPr>
              <a:t> table mentioned in the project description, limiting the calculation of true product-level reorder rates.</a:t>
            </a:r>
            <a:r>
              <a:rPr kumimoji="0" lang="en-US" altLang="en-US"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3399209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BFB71A-A394-BA1E-5669-101A35BE649F}"/>
              </a:ext>
            </a:extLst>
          </p:cNvPr>
          <p:cNvSpPr txBox="1">
            <a:spLocks/>
          </p:cNvSpPr>
          <p:nvPr/>
        </p:nvSpPr>
        <p:spPr>
          <a:xfrm>
            <a:off x="0" y="-1"/>
            <a:ext cx="12192000" cy="78740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2800" b="1" dirty="0">
                <a:latin typeface="Bahnschrift" panose="020B0502040204020203" pitchFamily="34" charset="0"/>
              </a:rPr>
              <a:t>CONCLUSION</a:t>
            </a:r>
          </a:p>
        </p:txBody>
      </p:sp>
      <p:sp>
        <p:nvSpPr>
          <p:cNvPr id="5" name="Rectangle 1">
            <a:extLst>
              <a:ext uri="{FF2B5EF4-FFF2-40B4-BE49-F238E27FC236}">
                <a16:creationId xmlns:a16="http://schemas.microsoft.com/office/drawing/2014/main" id="{3C6D938E-895F-0CD8-FA23-840EE9D96518}"/>
              </a:ext>
            </a:extLst>
          </p:cNvPr>
          <p:cNvSpPr>
            <a:spLocks noChangeArrowheads="1"/>
          </p:cNvSpPr>
          <p:nvPr/>
        </p:nvSpPr>
        <p:spPr bwMode="auto">
          <a:xfrm>
            <a:off x="214604" y="1335163"/>
            <a:ext cx="11448661"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The </a:t>
            </a:r>
            <a:r>
              <a:rPr kumimoji="0" lang="en-US" altLang="en-US" b="1" i="0" u="none" strike="noStrike" cap="none" normalizeH="0" baseline="0" dirty="0">
                <a:ln>
                  <a:noFill/>
                </a:ln>
                <a:solidFill>
                  <a:schemeClr val="tx1"/>
                </a:solidFill>
                <a:effectLst/>
                <a:latin typeface="Arial" panose="020B0604020202020204" pitchFamily="34" charset="0"/>
              </a:rPr>
              <a:t>Market Analysis Dashboard</a:t>
            </a:r>
            <a:r>
              <a:rPr kumimoji="0" lang="en-US" altLang="en-US" b="0" i="0" u="none" strike="noStrike" cap="none" normalizeH="0" baseline="0" dirty="0">
                <a:ln>
                  <a:noFill/>
                </a:ln>
                <a:solidFill>
                  <a:schemeClr val="tx1"/>
                </a:solidFill>
                <a:effectLst/>
                <a:latin typeface="Arial" panose="020B0604020202020204" pitchFamily="34" charset="0"/>
              </a:rPr>
              <a:t> successfully transformed raw transactional data into meaningful business insights by analyzing customer purchasing behavior, product performance, and reorder patterns. The analysis identified high-demand products, popular departments, peak shopping periods, and customer buying habits, providing a comprehensive understanding of overall business performance.</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dashboard enables stakeholders to monitor key performance indicators, optimize inventory management, improve marketing strategies, and strengthen customer retention through data-driven decision-making. Despite the limitation of the missing </a:t>
            </a:r>
            <a:r>
              <a:rPr kumimoji="0" lang="en-US" altLang="en-US" b="1" i="0" u="none" strike="noStrike" cap="none" normalizeH="0" baseline="0" dirty="0" err="1">
                <a:ln>
                  <a:noFill/>
                </a:ln>
                <a:solidFill>
                  <a:schemeClr val="tx1"/>
                </a:solidFill>
                <a:effectLst/>
                <a:latin typeface="Arial Unicode MS"/>
              </a:rPr>
              <a:t>order_products</a:t>
            </a:r>
            <a:r>
              <a:rPr lang="en-US" altLang="en-US" b="1" dirty="0" err="1">
                <a:latin typeface="Arial Unicode MS"/>
              </a:rPr>
              <a:t>_</a:t>
            </a:r>
            <a:r>
              <a:rPr kumimoji="0" lang="en-US" altLang="en-US" b="1" i="0" u="none" strike="noStrike" cap="none" normalizeH="0" baseline="0" dirty="0" err="1">
                <a:ln>
                  <a:noFill/>
                </a:ln>
                <a:solidFill>
                  <a:schemeClr val="tx1"/>
                </a:solidFill>
                <a:effectLst/>
                <a:latin typeface="Arial Unicode MS"/>
              </a:rPr>
              <a:t>prior</a:t>
            </a:r>
            <a:r>
              <a:rPr kumimoji="0" lang="en-US" altLang="en-US" b="0" i="0" u="none" strike="noStrike" cap="none" normalizeH="0" baseline="0" dirty="0">
                <a:ln>
                  <a:noFill/>
                </a:ln>
                <a:solidFill>
                  <a:schemeClr val="tx1"/>
                </a:solidFill>
                <a:effectLst/>
              </a:rPr>
              <a:t> dataset mentioned in the project description, the available data provided valuable insights into customer behavior and product trends. </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Overall, this project demonstrates how </a:t>
            </a:r>
            <a:r>
              <a:rPr kumimoji="0" lang="en-US" altLang="en-US" b="1" i="0" u="none" strike="noStrike" cap="none" normalizeH="0" baseline="0" dirty="0">
                <a:ln>
                  <a:noFill/>
                </a:ln>
                <a:solidFill>
                  <a:schemeClr val="tx1"/>
                </a:solidFill>
                <a:effectLst/>
                <a:latin typeface="Arial" panose="020B0604020202020204" pitchFamily="34" charset="0"/>
              </a:rPr>
              <a:t>MySQL, Power BI, Power query and DAX</a:t>
            </a:r>
            <a:r>
              <a:rPr kumimoji="0" lang="en-US" altLang="en-US" b="0" i="0" u="none" strike="noStrike" cap="none" normalizeH="0" baseline="0" dirty="0">
                <a:ln>
                  <a:noFill/>
                </a:ln>
                <a:solidFill>
                  <a:schemeClr val="tx1"/>
                </a:solidFill>
                <a:effectLst/>
                <a:latin typeface="Arial" panose="020B0604020202020204" pitchFamily="34" charset="0"/>
              </a:rPr>
              <a:t> can be effectively used to convert large volumes of transactional data into interactive dashboards that support strategic business decisions, improve operational efficiency, and enhance customer satisfaction.</a:t>
            </a:r>
          </a:p>
        </p:txBody>
      </p:sp>
    </p:spTree>
    <p:extLst>
      <p:ext uri="{BB962C8B-B14F-4D97-AF65-F5344CB8AC3E}">
        <p14:creationId xmlns:p14="http://schemas.microsoft.com/office/powerpoint/2010/main" val="2081585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426</TotalTime>
  <Words>4543</Words>
  <Application>Microsoft Office PowerPoint</Application>
  <PresentationFormat>Widescreen</PresentationFormat>
  <Paragraphs>343</Paragraphs>
  <Slides>47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47</vt:i4>
      </vt:variant>
    </vt:vector>
  </HeadingPairs>
  <TitlesOfParts>
    <vt:vector size="56" baseType="lpstr">
      <vt:lpstr>Aptos</vt:lpstr>
      <vt:lpstr>Aptos Display</vt:lpstr>
      <vt:lpstr>Arial</vt:lpstr>
      <vt:lpstr>Arial Narrow</vt:lpstr>
      <vt:lpstr>Arial Unicode MS</vt:lpstr>
      <vt:lpstr>Bahnschrift</vt:lpstr>
      <vt:lpstr>Georgia</vt:lpstr>
      <vt:lpstr>Wingdings</vt:lpstr>
      <vt:lpstr>Office Theme</vt:lpstr>
      <vt:lpstr>MARKET ANAYSIS</vt:lpstr>
      <vt:lpstr>Project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7</cp:revision>
  <dcterms:created xsi:type="dcterms:W3CDTF">2026-07-22T07:41:36Z</dcterms:created>
  <dcterms:modified xsi:type="dcterms:W3CDTF">2026-07-24T06:55:42Z</dcterms:modified>
</cp:coreProperties>
</file>